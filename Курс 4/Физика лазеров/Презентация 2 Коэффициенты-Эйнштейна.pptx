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67" r:id="rId2"/>
    <p:sldId id="263" r:id="rId3"/>
    <p:sldId id="256" r:id="rId4"/>
    <p:sldId id="268" r:id="rId5"/>
    <p:sldId id="264" r:id="rId6"/>
    <p:sldId id="257" r:id="rId7"/>
    <p:sldId id="258" r:id="rId8"/>
    <p:sldId id="265" r:id="rId9"/>
    <p:sldId id="266" r:id="rId10"/>
    <p:sldId id="260" r:id="rId11"/>
    <p:sldId id="262" r:id="rId12"/>
    <p:sldId id="261" r:id="rId13"/>
  </p:sldIdLst>
  <p:sldSz cx="9906000" cy="6858000" type="A4"/>
  <p:notesSz cx="9947275" cy="68580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FF0000"/>
    <a:srgbClr val="CC66FF"/>
    <a:srgbClr val="CC00CC"/>
    <a:srgbClr val="FF66CC"/>
    <a:srgbClr val="00CC66"/>
    <a:srgbClr val="CC66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58"/>
    <p:restoredTop sz="94660"/>
  </p:normalViewPr>
  <p:slideViewPr>
    <p:cSldViewPr showGuides="1">
      <p:cViewPr varScale="1">
        <p:scale>
          <a:sx n="177" d="100"/>
          <a:sy n="177" d="100"/>
        </p:scale>
        <p:origin x="372" y="120"/>
      </p:cViewPr>
      <p:guideLst>
        <p:guide orient="horz" pos="216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75" d="100"/>
        <a:sy n="75" d="100"/>
      </p:scale>
      <p:origin x="0" y="0"/>
    </p:cViewPr>
  </p:sorter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7" Type="http://schemas.openxmlformats.org/officeDocument/2006/relationships/image" Target="../media/image10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6" Type="http://schemas.openxmlformats.org/officeDocument/2006/relationships/image" Target="../media/image9.wmf"/><Relationship Id="rId5" Type="http://schemas.openxmlformats.org/officeDocument/2006/relationships/image" Target="../media/image8.wmf"/><Relationship Id="rId4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4.wmf"/><Relationship Id="rId4" Type="http://schemas.openxmlformats.org/officeDocument/2006/relationships/image" Target="../media/image13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7" Type="http://schemas.openxmlformats.org/officeDocument/2006/relationships/image" Target="../media/image22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6" Type="http://schemas.openxmlformats.org/officeDocument/2006/relationships/image" Target="../media/image21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Relationship Id="rId4" Type="http://schemas.openxmlformats.org/officeDocument/2006/relationships/image" Target="../media/image26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4" Type="http://schemas.openxmlformats.org/officeDocument/2006/relationships/image" Target="../media/image22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Relationship Id="rId4" Type="http://schemas.openxmlformats.org/officeDocument/2006/relationships/image" Target="../media/image33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Relationship Id="rId4" Type="http://schemas.openxmlformats.org/officeDocument/2006/relationships/image" Target="../media/image3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10063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ru-RU" altLang="ru-RU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2. Коэффициенты Эйнштейна.ppt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5625" y="0"/>
            <a:ext cx="4310063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ru-RU" altLang="ru-RU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513513"/>
            <a:ext cx="4310063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ru-RU" altLang="ru-RU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17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5625" y="6513513"/>
            <a:ext cx="4310063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D49313-DAB8-4D9C-94BE-73515E973E1B}" type="slidenum">
              <a:rPr kumimoji="0" lang="ru-RU" altLang="ru-RU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kumimoji="0" lang="ru-RU" altLang="ru-RU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10063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ru-RU" altLang="ru-RU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2. Коэффициенты Эйнштейна.ppt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5625" y="0"/>
            <a:ext cx="4310063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ru-RU" altLang="ru-RU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052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116263" y="514350"/>
            <a:ext cx="3714750" cy="257175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48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5363" y="3257550"/>
            <a:ext cx="7956550" cy="308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ru-RU" altLang="ru-RU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Образец текста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ru-RU" altLang="ru-RU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Второй уровень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ru-RU" altLang="ru-RU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Третий уровень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ru-RU" altLang="ru-RU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Четвертый уровень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ru-RU" altLang="ru-RU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Пятый уровень</a:t>
            </a:r>
          </a:p>
        </p:txBody>
      </p:sp>
      <p:sp>
        <p:nvSpPr>
          <p:cNvPr id="348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3513"/>
            <a:ext cx="4310063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ru-RU" altLang="ru-RU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48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5625" y="6513513"/>
            <a:ext cx="4310063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390DB22-116C-4430-B2C2-262E56604090}" type="slidenum">
              <a:rPr kumimoji="0" lang="ru-RU" altLang="ru-RU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kumimoji="0" lang="ru-RU" altLang="ru-RU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4310063" cy="3429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r>
              <a:rPr lang="ru-RU" altLang="ru-RU" sz="1200" dirty="0"/>
              <a:t>2. Коэффициенты Эйнштейна.ppt</a:t>
            </a:r>
          </a:p>
        </p:txBody>
      </p:sp>
      <p:sp>
        <p:nvSpPr>
          <p:cNvPr id="7171" name="Rectangle 7"/>
          <p:cNvSpPr txBox="1">
            <a:spLocks noGrp="1"/>
          </p:cNvSpPr>
          <p:nvPr>
            <p:ph type="sldNum" sz="quarter"/>
          </p:nvPr>
        </p:nvSpPr>
        <p:spPr>
          <a:xfrm>
            <a:off x="5635625" y="6513513"/>
            <a:ext cx="4310063" cy="3429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ru-RU" altLang="ru-RU" sz="1200" dirty="0"/>
              <a:t>3</a:t>
            </a:fld>
            <a:endParaRPr lang="ru-RU" altLang="ru-RU" sz="1200" dirty="0"/>
          </a:p>
        </p:txBody>
      </p:sp>
      <p:sp>
        <p:nvSpPr>
          <p:cNvPr id="7172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3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ru-RU" altLang="ru-RU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ru-RU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ru-RU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B0AA40-534E-4474-82AC-F08A41A3F581}" type="slidenum">
              <a:rPr kumimoji="0" lang="en-US" altLang="ru-RU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kumimoji="0" lang="en-US" altLang="ru-RU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ru-RU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ru-RU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B0AA40-534E-4474-82AC-F08A41A3F581}" type="slidenum">
              <a:rPr kumimoji="0" lang="en-US" altLang="ru-RU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kumimoji="0" lang="en-US" altLang="ru-RU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6275" y="1709738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76275" y="4589463"/>
            <a:ext cx="8543925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ru-RU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ru-RU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B0AA40-534E-4474-82AC-F08A41A3F581}" type="slidenum">
              <a:rPr kumimoji="0" lang="en-US" altLang="ru-RU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kumimoji="0" lang="en-US" altLang="ru-RU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Замещающая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ru-RU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ru-RU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B0AA40-534E-4474-82AC-F08A41A3F581}" type="slidenum">
              <a:rPr kumimoji="0" lang="en-US" altLang="ru-RU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kumimoji="0" lang="en-US" altLang="ru-RU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2625" y="365125"/>
            <a:ext cx="8543925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82625" y="1681163"/>
            <a:ext cx="4191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82625" y="2505075"/>
            <a:ext cx="419100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6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63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Замещающая 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ru-RU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8" name="Замещающий 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ru-RU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" name="Замещающий 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B0AA40-534E-4474-82AC-F08A41A3F581}" type="slidenum">
              <a:rPr kumimoji="0" lang="en-US" altLang="ru-RU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kumimoji="0" lang="en-US" altLang="ru-RU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Замещающая 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ru-RU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Замещающий 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ru-RU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B0AA40-534E-4474-82AC-F08A41A3F581}" type="slidenum">
              <a:rPr kumimoji="0" lang="en-US" altLang="ru-RU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kumimoji="0" lang="en-US" altLang="ru-RU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ая 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ru-RU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" name="Замещающий 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ru-RU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B0AA40-534E-4474-82AC-F08A41A3F581}" type="slidenum">
              <a:rPr kumimoji="0" lang="en-US" altLang="ru-RU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kumimoji="0" lang="en-US" altLang="ru-RU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2625" y="457200"/>
            <a:ext cx="319405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211638" y="987425"/>
            <a:ext cx="5014912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82625" y="2057400"/>
            <a:ext cx="319405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Замещающая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ru-RU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ru-RU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B0AA40-534E-4474-82AC-F08A41A3F581}" type="slidenum">
              <a:rPr kumimoji="0" lang="en-US" altLang="ru-RU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kumimoji="0" lang="en-US" altLang="ru-RU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2625" y="457200"/>
            <a:ext cx="319405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211638" y="987425"/>
            <a:ext cx="5014912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ru-RU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82625" y="2057400"/>
            <a:ext cx="319405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Замещающая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ru-RU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ru-RU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B0AA40-534E-4474-82AC-F08A41A3F581}" type="slidenum">
              <a:rPr kumimoji="0" lang="en-US" altLang="ru-RU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kumimoji="0" lang="en-US" altLang="ru-RU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ru-RU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ru-RU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B0AA40-534E-4474-82AC-F08A41A3F581}" type="slidenum">
              <a:rPr kumimoji="0" lang="en-US" altLang="ru-RU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kumimoji="0" lang="en-US" altLang="ru-RU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ru-RU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ru-RU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B0AA40-534E-4474-82AC-F08A41A3F581}" type="slidenum">
              <a:rPr kumimoji="0" lang="en-US" altLang="ru-RU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kumimoji="0" lang="en-US" altLang="ru-RU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ru-RU" dirty="0"/>
              <a:t>Click to edit Master title style</a:t>
            </a:r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ru-RU" dirty="0"/>
              <a:t>Click to edit Master text styles</a:t>
            </a:r>
          </a:p>
          <a:p>
            <a:pPr lvl="1"/>
            <a:r>
              <a:rPr lang="en-US" altLang="ru-RU" dirty="0"/>
              <a:t>Second level</a:t>
            </a:r>
          </a:p>
          <a:p>
            <a:pPr lvl="2"/>
            <a:r>
              <a:rPr lang="en-US" altLang="ru-RU" dirty="0"/>
              <a:t>Third level</a:t>
            </a:r>
          </a:p>
          <a:p>
            <a:pPr lvl="3"/>
            <a:r>
              <a:rPr lang="en-US" altLang="ru-RU" dirty="0"/>
              <a:t>Fourth level</a:t>
            </a:r>
          </a:p>
          <a:p>
            <a:pPr lvl="4"/>
            <a:r>
              <a:rPr lang="en-US" altLang="ru-RU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245225"/>
            <a:ext cx="23114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ru-RU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245225"/>
            <a:ext cx="31369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ru-RU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245225"/>
            <a:ext cx="23114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B0AA40-534E-4474-82AC-F08A41A3F581}" type="slidenum">
              <a:rPr kumimoji="0" lang="en-US" altLang="ru-RU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kumimoji="0" lang="en-US" altLang="ru-RU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8.wmf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wmf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10.wmf"/><Relationship Id="rId2" Type="http://schemas.openxmlformats.org/officeDocument/2006/relationships/slideLayout" Target="../slideLayouts/slideLayout4.xml"/><Relationship Id="rId16" Type="http://schemas.openxmlformats.org/officeDocument/2006/relationships/oleObject" Target="../embeddings/oleObject7.bin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7.wmf"/><Relationship Id="rId5" Type="http://schemas.openxmlformats.org/officeDocument/2006/relationships/image" Target="../media/image4.wmf"/><Relationship Id="rId15" Type="http://schemas.openxmlformats.org/officeDocument/2006/relationships/image" Target="../media/image9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6.wmf"/><Relationship Id="rId14" Type="http://schemas.openxmlformats.org/officeDocument/2006/relationships/oleObject" Target="../embeddings/oleObject6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9.bin"/><Relationship Id="rId10" Type="http://schemas.openxmlformats.org/officeDocument/2006/relationships/image" Target="../media/image13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11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4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13" Type="http://schemas.openxmlformats.org/officeDocument/2006/relationships/oleObject" Target="../embeddings/oleObject19.bin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20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2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17.wmf"/><Relationship Id="rId11" Type="http://schemas.openxmlformats.org/officeDocument/2006/relationships/oleObject" Target="../embeddings/oleObject18.bin"/><Relationship Id="rId5" Type="http://schemas.openxmlformats.org/officeDocument/2006/relationships/oleObject" Target="../embeddings/oleObject15.bin"/><Relationship Id="rId15" Type="http://schemas.openxmlformats.org/officeDocument/2006/relationships/oleObject" Target="../embeddings/oleObject20.bin"/><Relationship Id="rId10" Type="http://schemas.openxmlformats.org/officeDocument/2006/relationships/image" Target="../media/image19.wmf"/><Relationship Id="rId4" Type="http://schemas.openxmlformats.org/officeDocument/2006/relationships/image" Target="../media/image16.wmf"/><Relationship Id="rId9" Type="http://schemas.openxmlformats.org/officeDocument/2006/relationships/oleObject" Target="../embeddings/oleObject17.bin"/><Relationship Id="rId14" Type="http://schemas.openxmlformats.org/officeDocument/2006/relationships/image" Target="../media/image21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22.bin"/><Relationship Id="rId10" Type="http://schemas.openxmlformats.org/officeDocument/2006/relationships/image" Target="../media/image26.wmf"/><Relationship Id="rId4" Type="http://schemas.openxmlformats.org/officeDocument/2006/relationships/image" Target="../media/image23.wmf"/><Relationship Id="rId9" Type="http://schemas.openxmlformats.org/officeDocument/2006/relationships/oleObject" Target="../embeddings/oleObject24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26.bin"/><Relationship Id="rId10" Type="http://schemas.openxmlformats.org/officeDocument/2006/relationships/image" Target="../media/image22.wmf"/><Relationship Id="rId4" Type="http://schemas.openxmlformats.org/officeDocument/2006/relationships/image" Target="../media/image27.wmf"/><Relationship Id="rId9" Type="http://schemas.openxmlformats.org/officeDocument/2006/relationships/oleObject" Target="../embeddings/oleObject28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29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oleObject" Target="../embeddings/oleObject30.bin"/><Relationship Id="rId7" Type="http://schemas.openxmlformats.org/officeDocument/2006/relationships/oleObject" Target="../embeddings/oleObject3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31.bin"/><Relationship Id="rId10" Type="http://schemas.openxmlformats.org/officeDocument/2006/relationships/image" Target="../media/image33.wmf"/><Relationship Id="rId4" Type="http://schemas.openxmlformats.org/officeDocument/2006/relationships/image" Target="../media/image30.wmf"/><Relationship Id="rId9" Type="http://schemas.openxmlformats.org/officeDocument/2006/relationships/oleObject" Target="../embeddings/oleObject33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5.wmf"/><Relationship Id="rId5" Type="http://schemas.openxmlformats.org/officeDocument/2006/relationships/oleObject" Target="../embeddings/oleObject35.bin"/><Relationship Id="rId10" Type="http://schemas.openxmlformats.org/officeDocument/2006/relationships/image" Target="../media/image37.wmf"/><Relationship Id="rId4" Type="http://schemas.openxmlformats.org/officeDocument/2006/relationships/image" Target="../media/image34.wmf"/><Relationship Id="rId9" Type="http://schemas.openxmlformats.org/officeDocument/2006/relationships/oleObject" Target="../embeddings/oleObject37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89768eeed43acd059ec63cbd22c0ffe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931863"/>
            <a:ext cx="3373437" cy="47450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099" name="TextBox 3"/>
          <p:cNvSpPr txBox="1"/>
          <p:nvPr/>
        </p:nvSpPr>
        <p:spPr>
          <a:xfrm>
            <a:off x="3224213" y="236538"/>
            <a:ext cx="240665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ru-RU" altLang="x-none" sz="2400" dirty="0">
                <a:latin typeface="Arial" panose="020B0604020202020204" pitchFamily="34" charset="0"/>
              </a:rPr>
              <a:t>Модели атомов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4035425" y="847725"/>
            <a:ext cx="4953000" cy="581660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ru-RU" sz="1200" b="0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Дальтон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изображал атом как крошечную сферу, которую невозможно разрушить.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ru-RU" sz="1200" b="0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Томсон</a:t>
            </a:r>
            <a:r>
              <a:rPr kumimoji="0" lang="en-US" sz="1200" b="0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:</a:t>
            </a:r>
            <a:r>
              <a:rPr kumimoji="0" lang="ru-RU" sz="1200" b="0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Атом представляет собой шар, внутри которого по всему объёму распределён положительный заряд — сам «пудинг» — и находятся отрицательно заряженные электроны — «изюм» в пудинге.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ru-RU" sz="1200" b="0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Резерфорд</a:t>
            </a:r>
            <a:r>
              <a:rPr kumimoji="0" lang="en-US" sz="1200" b="0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Атом состоит из крохотного положительно заряженного ядра, в котором сосредоточена почти вся масса атома, вокруг которого вращаются электроны, — подобно тому, как планеты движутся вокруг Солнца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ru-RU" sz="1200" b="0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Бор</a:t>
            </a:r>
            <a:r>
              <a:rPr kumimoji="0" lang="en-US" sz="1200" b="0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:</a:t>
            </a:r>
            <a:endParaRPr kumimoji="0" lang="ru-RU" sz="1200" b="0" i="0" u="sng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Модель Резерфорда + введение квантовых условий</a:t>
            </a: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электрон в атоме может находиться только в особых (квантовых) состояниях, каждому из которых соответствует определенная энергия. Когда электрон находится в стационарном состоянии, вращаясь по орбите, он не излучает.</a:t>
            </a: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при переходе атома из одного стационарного состояния в другое испускается или поглощается квант электромагнитного излучения, энергия которого равна разности энергий электрона в данных состояниях </a:t>
            </a: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стационарные электронные орбиты находятся из условия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4101" name="Picture 4" descr="im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2275" y="5494338"/>
            <a:ext cx="2295525" cy="4953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02" name="Picture 6" descr="im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2275" y="6224588"/>
            <a:ext cx="1333500" cy="5524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03" name="TextBox 5"/>
          <p:cNvSpPr txBox="1"/>
          <p:nvPr/>
        </p:nvSpPr>
        <p:spPr>
          <a:xfrm>
            <a:off x="55563" y="5741988"/>
            <a:ext cx="3529012" cy="1016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ru-RU" altLang="x-none" sz="1200" u="sng" dirty="0">
                <a:latin typeface="Arial" panose="020B0604020202020204" pitchFamily="34" charset="0"/>
              </a:rPr>
              <a:t>Шредингер</a:t>
            </a:r>
            <a:r>
              <a:rPr sz="1200" u="sng" dirty="0">
                <a:latin typeface="Arial" panose="020B0604020202020204" pitchFamily="34" charset="0"/>
              </a:rPr>
              <a:t>:</a:t>
            </a:r>
            <a:endParaRPr lang="ru-RU" altLang="x-none" sz="1200" u="sng" dirty="0">
              <a:latin typeface="Arial" panose="020B0604020202020204" pitchFamily="34" charset="0"/>
            </a:endParaRPr>
          </a:p>
          <a:p>
            <a:r>
              <a:rPr lang="ru-RU" altLang="x-none" sz="1200" dirty="0">
                <a:latin typeface="Arial" panose="020B0604020202020204" pitchFamily="34" charset="0"/>
              </a:rPr>
              <a:t>заряды электронов и образуемые ими токи непрерывно распределены по объему атома, молекулы или кристалла с плотностями, выражающимися через волновую функцию ψ.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/>
          <p:cNvSpPr txBox="1"/>
          <p:nvPr/>
        </p:nvSpPr>
        <p:spPr>
          <a:xfrm>
            <a:off x="1497013" y="128588"/>
            <a:ext cx="7397750" cy="5222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ru-RU" altLang="ru-RU" sz="2800" dirty="0">
                <a:solidFill>
                  <a:srgbClr val="FF0000"/>
                </a:solidFill>
              </a:rPr>
              <a:t>Переходы в атоме под действием ЭМ поля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83013" y="931863"/>
            <a:ext cx="2540000" cy="17541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ru-RU" u="sng" kern="1200" cap="none" spc="0" normalizeH="0" baseline="0" noProof="0" dirty="0">
                <a:latin typeface="Arial" panose="020B0604020202020204" pitchFamily="34" charset="0"/>
                <a:ea typeface="+mn-ea"/>
                <a:cs typeface="+mn-cs"/>
              </a:rPr>
              <a:t>Типы переходов</a:t>
            </a:r>
            <a:r>
              <a:rPr kumimoji="0" lang="en-US" u="sng" kern="1200" cap="none" spc="0" normalizeH="0" baseline="0" noProof="0" dirty="0">
                <a:latin typeface="Arial" panose="020B0604020202020204" pitchFamily="34" charset="0"/>
                <a:ea typeface="+mn-ea"/>
                <a:cs typeface="+mn-cs"/>
              </a:rPr>
              <a:t>:</a:t>
            </a:r>
          </a:p>
          <a:p>
            <a:pPr marL="342900" marR="0" indent="-342900" defTabSz="914400" eaLnBrk="1" hangingPunct="1">
              <a:buClrTx/>
              <a:buSzTx/>
              <a:buFontTx/>
              <a:buAutoNum type="arabicPeriod"/>
              <a:defRPr/>
            </a:pPr>
            <a:r>
              <a:rPr kumimoji="0" lang="ru-RU" kern="1200" cap="none" spc="0" normalizeH="0" baseline="0" noProof="0" dirty="0">
                <a:latin typeface="Arial" panose="020B0604020202020204" pitchFamily="34" charset="0"/>
                <a:ea typeface="+mn-ea"/>
                <a:cs typeface="+mn-cs"/>
              </a:rPr>
              <a:t>Индуцированные</a:t>
            </a:r>
          </a:p>
          <a:p>
            <a:pPr marL="800100" marR="0" lvl="1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lphaLcParenR"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Поглощение</a:t>
            </a:r>
          </a:p>
          <a:p>
            <a:pPr marL="800100" marR="0" lvl="1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lphaLcParenR"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Испускание</a:t>
            </a:r>
          </a:p>
          <a:p>
            <a:pPr marL="342900" marR="0" indent="-342900" defTabSz="914400" eaLnBrk="1" hangingPunct="1">
              <a:buClrTx/>
              <a:buSzTx/>
              <a:buFontTx/>
              <a:buAutoNum type="arabicPeriod"/>
              <a:defRPr/>
            </a:pPr>
            <a:r>
              <a:rPr kumimoji="0" lang="ru-RU" kern="1200" cap="none" spc="0" normalizeH="0" baseline="0" noProof="0" dirty="0">
                <a:latin typeface="Arial" panose="020B0604020202020204" pitchFamily="34" charset="0"/>
                <a:ea typeface="+mn-ea"/>
                <a:cs typeface="+mn-cs"/>
              </a:rPr>
              <a:t>Спонтанные</a:t>
            </a:r>
          </a:p>
          <a:p>
            <a:pPr marL="342900" marR="0" indent="-342900" defTabSz="914400" eaLnBrk="1" hangingPunct="1">
              <a:buClrTx/>
              <a:buSzTx/>
              <a:buFontTx/>
              <a:buAutoNum type="arabicPeriod"/>
              <a:defRPr/>
            </a:pP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Безизлучательные</a:t>
            </a:r>
            <a:endParaRPr kumimoji="0" lang="ru-RU" kern="1200" cap="none" spc="0" normalizeH="0" baseline="0" noProof="0" dirty="0"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124" name="Line 5"/>
          <p:cNvSpPr/>
          <p:nvPr/>
        </p:nvSpPr>
        <p:spPr>
          <a:xfrm>
            <a:off x="769938" y="1371600"/>
            <a:ext cx="2027237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125" name="Line 6"/>
          <p:cNvSpPr/>
          <p:nvPr/>
        </p:nvSpPr>
        <p:spPr>
          <a:xfrm>
            <a:off x="776288" y="2349500"/>
            <a:ext cx="2027237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126" name="Text Box 7"/>
          <p:cNvSpPr txBox="1"/>
          <p:nvPr/>
        </p:nvSpPr>
        <p:spPr>
          <a:xfrm>
            <a:off x="257175" y="1228725"/>
            <a:ext cx="544513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ru-RU" sz="2000" dirty="0"/>
              <a:t>E</a:t>
            </a:r>
            <a:r>
              <a:rPr lang="en-US" altLang="ru-RU" sz="2000" baseline="-25000" dirty="0"/>
              <a:t>2</a:t>
            </a:r>
          </a:p>
        </p:txBody>
      </p:sp>
      <p:sp>
        <p:nvSpPr>
          <p:cNvPr id="5127" name="Text Box 8"/>
          <p:cNvSpPr txBox="1"/>
          <p:nvPr/>
        </p:nvSpPr>
        <p:spPr>
          <a:xfrm>
            <a:off x="260350" y="2092325"/>
            <a:ext cx="544513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ru-RU" sz="2000" dirty="0"/>
              <a:t>E</a:t>
            </a:r>
            <a:r>
              <a:rPr lang="en-US" altLang="ru-RU" sz="2000" baseline="-25000" dirty="0"/>
              <a:t>1</a:t>
            </a:r>
          </a:p>
        </p:txBody>
      </p:sp>
      <p:sp>
        <p:nvSpPr>
          <p:cNvPr id="10" name="AutoShape 12"/>
          <p:cNvSpPr/>
          <p:nvPr/>
        </p:nvSpPr>
        <p:spPr>
          <a:xfrm>
            <a:off x="1897063" y="1227138"/>
            <a:ext cx="390525" cy="287337"/>
          </a:xfrm>
          <a:prstGeom prst="star16">
            <a:avLst>
              <a:gd name="adj" fmla="val 37500"/>
            </a:avLst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ru-RU" altLang="ru-RU" sz="1800" dirty="0"/>
          </a:p>
        </p:txBody>
      </p:sp>
      <p:sp>
        <p:nvSpPr>
          <p:cNvPr id="11" name="AutoShape 13"/>
          <p:cNvSpPr/>
          <p:nvPr/>
        </p:nvSpPr>
        <p:spPr>
          <a:xfrm>
            <a:off x="1897063" y="2216150"/>
            <a:ext cx="390525" cy="287338"/>
          </a:xfrm>
          <a:prstGeom prst="star16">
            <a:avLst>
              <a:gd name="adj" fmla="val 37500"/>
            </a:avLst>
          </a:prstGeom>
          <a:solidFill>
            <a:srgbClr val="3366FF"/>
          </a:solidFill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ru-RU" altLang="ru-RU" sz="1800" dirty="0"/>
          </a:p>
        </p:txBody>
      </p:sp>
      <p:sp>
        <p:nvSpPr>
          <p:cNvPr id="12" name="AutoShape 11"/>
          <p:cNvSpPr/>
          <p:nvPr/>
        </p:nvSpPr>
        <p:spPr>
          <a:xfrm>
            <a:off x="1819275" y="1373188"/>
            <a:ext cx="506413" cy="963612"/>
          </a:xfrm>
          <a:prstGeom prst="downArrow">
            <a:avLst>
              <a:gd name="adj1" fmla="val 50000"/>
              <a:gd name="adj2" fmla="val 47570"/>
            </a:avLst>
          </a:prstGeom>
          <a:solidFill>
            <a:schemeClr val="accent1">
              <a:alpha val="67842"/>
            </a:scheme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ru-RU" altLang="ru-RU" sz="1800" dirty="0"/>
          </a:p>
        </p:txBody>
      </p:sp>
      <p:grpSp>
        <p:nvGrpSpPr>
          <p:cNvPr id="13" name="Group 24"/>
          <p:cNvGrpSpPr/>
          <p:nvPr/>
        </p:nvGrpSpPr>
        <p:grpSpPr>
          <a:xfrm>
            <a:off x="1816100" y="1736725"/>
            <a:ext cx="1173163" cy="550863"/>
            <a:chOff x="930" y="1178"/>
            <a:chExt cx="682" cy="347"/>
          </a:xfrm>
        </p:grpSpPr>
        <p:sp>
          <p:nvSpPr>
            <p:cNvPr id="5133" name="Freeform 17"/>
            <p:cNvSpPr/>
            <p:nvPr/>
          </p:nvSpPr>
          <p:spPr>
            <a:xfrm>
              <a:off x="930" y="1185"/>
              <a:ext cx="408" cy="11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37"/>
                </a:cxn>
                <a:cxn ang="0">
                  <a:pos x="4" y="7"/>
                </a:cxn>
                <a:cxn ang="0">
                  <a:pos x="6" y="45"/>
                </a:cxn>
                <a:cxn ang="0">
                  <a:pos x="8" y="7"/>
                </a:cxn>
                <a:cxn ang="0">
                  <a:pos x="8" y="7"/>
                </a:cxn>
              </a:cxnLst>
              <a:rect l="0" t="0" r="0" b="0"/>
              <a:pathLst>
                <a:path w="884" h="136">
                  <a:moveTo>
                    <a:pt x="0" y="0"/>
                  </a:moveTo>
                  <a:cubicBezTo>
                    <a:pt x="54" y="54"/>
                    <a:pt x="109" y="109"/>
                    <a:pt x="181" y="113"/>
                  </a:cubicBezTo>
                  <a:cubicBezTo>
                    <a:pt x="253" y="117"/>
                    <a:pt x="351" y="18"/>
                    <a:pt x="430" y="22"/>
                  </a:cubicBezTo>
                  <a:cubicBezTo>
                    <a:pt x="509" y="26"/>
                    <a:pt x="589" y="136"/>
                    <a:pt x="657" y="136"/>
                  </a:cubicBezTo>
                  <a:cubicBezTo>
                    <a:pt x="725" y="136"/>
                    <a:pt x="801" y="41"/>
                    <a:pt x="839" y="22"/>
                  </a:cubicBezTo>
                  <a:cubicBezTo>
                    <a:pt x="877" y="3"/>
                    <a:pt x="880" y="33"/>
                    <a:pt x="884" y="22"/>
                  </a:cubicBezTo>
                </a:path>
              </a:pathLst>
            </a:custGeom>
            <a:noFill/>
            <a:ln w="28575" cap="flat" cmpd="sng">
              <a:solidFill>
                <a:srgbClr val="66FF33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ru-RU" altLang="en-US"/>
            </a:p>
          </p:txBody>
        </p:sp>
        <p:sp>
          <p:nvSpPr>
            <p:cNvPr id="5134" name="AutoShape 21"/>
            <p:cNvSpPr/>
            <p:nvPr/>
          </p:nvSpPr>
          <p:spPr>
            <a:xfrm>
              <a:off x="1311" y="1178"/>
              <a:ext cx="204" cy="91"/>
            </a:xfrm>
            <a:prstGeom prst="homePlate">
              <a:avLst>
                <a:gd name="adj" fmla="val 56043"/>
              </a:avLst>
            </a:prstGeom>
            <a:solidFill>
              <a:srgbClr val="66FF33">
                <a:alpha val="85097"/>
              </a:srgbClr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ru-RU" altLang="ru-RU" sz="1800" dirty="0"/>
            </a:p>
          </p:txBody>
        </p:sp>
        <p:sp>
          <p:nvSpPr>
            <p:cNvPr id="5135" name="Text Box 22"/>
            <p:cNvSpPr txBox="1"/>
            <p:nvPr/>
          </p:nvSpPr>
          <p:spPr>
            <a:xfrm>
              <a:off x="1338" y="1275"/>
              <a:ext cx="27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ru-RU" sz="2000" b="1" dirty="0">
                  <a:solidFill>
                    <a:srgbClr val="66FF33"/>
                  </a:solidFill>
                </a:rPr>
                <a:t>h</a:t>
              </a:r>
              <a:r>
                <a:rPr lang="en-US" altLang="ru-RU" sz="2000" b="1" dirty="0">
                  <a:solidFill>
                    <a:srgbClr val="66FF33"/>
                  </a:solidFill>
                  <a:latin typeface="Symbol" panose="05050102010706020507" pitchFamily="18" charset="2"/>
                </a:rPr>
                <a:t>n</a:t>
              </a: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236538" y="3340100"/>
            <a:ext cx="9432925" cy="2586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ru-RU" u="sng" kern="1200" cap="none" spc="0" normalizeH="0" baseline="0" noProof="0" dirty="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+mn-cs"/>
              </a:rPr>
              <a:t>Свойства индуцированных переходов</a:t>
            </a:r>
            <a:r>
              <a:rPr kumimoji="0" lang="en-US" u="sng" kern="1200" cap="none" spc="0" normalizeH="0" baseline="0" noProof="0" dirty="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+mn-cs"/>
              </a:rPr>
              <a:t>:</a:t>
            </a:r>
          </a:p>
          <a:p>
            <a:pPr marL="342900" marR="0" indent="-342900" defTabSz="914400" eaLnBrk="1" hangingPunct="1">
              <a:buClrTx/>
              <a:buSzTx/>
              <a:buFontTx/>
              <a:buAutoNum type="arabicPeriod"/>
              <a:defRPr/>
            </a:pPr>
            <a:r>
              <a:rPr kumimoji="0" lang="ru-RU" kern="1200" cap="none" spc="0" normalizeH="0" baseline="0" noProof="0" dirty="0">
                <a:latin typeface="Arial" panose="020B0604020202020204" pitchFamily="34" charset="0"/>
                <a:ea typeface="+mn-ea"/>
                <a:cs typeface="+mn-cs"/>
              </a:rPr>
              <a:t>Вероятность перехода отлична от нуля только для частот внешнего поля с резонансной частотой</a:t>
            </a:r>
          </a:p>
          <a:p>
            <a:pPr marL="342900" marR="0" indent="-342900" defTabSz="914400" eaLnBrk="1" hangingPunct="1">
              <a:buClrTx/>
              <a:buSzTx/>
              <a:buFontTx/>
              <a:buAutoNum type="arabicPeriod"/>
              <a:defRPr/>
            </a:pPr>
            <a:r>
              <a:rPr kumimoji="0" lang="ru-RU" kern="1200" cap="none" spc="0" normalizeH="0" baseline="0" noProof="0" dirty="0">
                <a:latin typeface="Arial" panose="020B0604020202020204" pitchFamily="34" charset="0"/>
                <a:ea typeface="+mn-ea"/>
                <a:cs typeface="+mn-cs"/>
              </a:rPr>
              <a:t>Рожденные фотоны полностью тождественны фотонам, которые привели к их излучению</a:t>
            </a:r>
            <a:r>
              <a:rPr kumimoji="0" lang="en-US" kern="1200" cap="none" spc="0" normalizeH="0" baseline="0" noProof="0" dirty="0">
                <a:latin typeface="Arial" panose="020B0604020202020204" pitchFamily="34" charset="0"/>
                <a:ea typeface="+mn-ea"/>
                <a:cs typeface="+mn-cs"/>
              </a:rPr>
              <a:t>: </a:t>
            </a:r>
            <a:r>
              <a:rPr kumimoji="0" lang="ru-RU" kern="1200" cap="none" spc="0" normalizeH="0" baseline="0" noProof="0" dirty="0">
                <a:latin typeface="Arial" panose="020B0604020202020204" pitchFamily="34" charset="0"/>
                <a:ea typeface="+mn-ea"/>
                <a:cs typeface="+mn-cs"/>
              </a:rPr>
              <a:t>частота, фаза, направление совпадают</a:t>
            </a:r>
          </a:p>
          <a:p>
            <a:pPr marL="342900" marR="0" indent="-342900" defTabSz="914400" eaLnBrk="1" hangingPunct="1">
              <a:buClrTx/>
              <a:buSzTx/>
              <a:buFontTx/>
              <a:buAutoNum type="arabicPeriod"/>
              <a:defRPr/>
            </a:pPr>
            <a:r>
              <a:rPr kumimoji="0" lang="ru-RU" kern="1200" cap="none" spc="0" normalizeH="0" baseline="0" noProof="0" dirty="0">
                <a:latin typeface="Arial" panose="020B0604020202020204" pitchFamily="34" charset="0"/>
                <a:ea typeface="+mn-ea"/>
                <a:cs typeface="+mn-cs"/>
              </a:rPr>
              <a:t>Вероятность индуцированных переходов в единицу времени пропорциональна объемной плотности энергии в единичном частотном интервале. Больше внешнее поле – больше вынужденных переходов, как в верхнее, так и в нижнее энергетическое состояние.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3.7037E-6 L 0.11806 3.7037E-6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6" name="Object 99"/>
          <p:cNvGraphicFramePr>
            <a:graphicFrameLocks noGrp="1" noChangeAspect="1"/>
          </p:cNvGraphicFramePr>
          <p:nvPr>
            <p:ph sz="half" idx="1"/>
          </p:nvPr>
        </p:nvGraphicFramePr>
        <p:xfrm>
          <a:off x="2479675" y="217170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r:id="rId4" imgW="114300" imgH="215900" progId="Equation.3">
                  <p:embed/>
                </p:oleObj>
              </mc:Choice>
              <mc:Fallback>
                <p:oleObj r:id="rId4" imgW="114300" imgH="215900" progId="Equation.3">
                  <p:embed/>
                  <p:pic>
                    <p:nvPicPr>
                      <p:cNvPr id="0" name="Изображение 3083"/>
                      <p:cNvPicPr/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>
                      <a:xfrm>
                        <a:off x="2479675" y="2171700"/>
                        <a:ext cx="114300" cy="2159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7" name="Line 26"/>
          <p:cNvSpPr/>
          <p:nvPr/>
        </p:nvSpPr>
        <p:spPr>
          <a:xfrm>
            <a:off x="712788" y="1504950"/>
            <a:ext cx="2027237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48" name="Line 27"/>
          <p:cNvSpPr/>
          <p:nvPr/>
        </p:nvSpPr>
        <p:spPr>
          <a:xfrm>
            <a:off x="719138" y="2470150"/>
            <a:ext cx="2027237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49" name="Text Box 28"/>
          <p:cNvSpPr txBox="1"/>
          <p:nvPr/>
        </p:nvSpPr>
        <p:spPr>
          <a:xfrm>
            <a:off x="244475" y="1390650"/>
            <a:ext cx="544513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ru-RU" sz="2000" dirty="0"/>
              <a:t>E</a:t>
            </a:r>
            <a:r>
              <a:rPr lang="en-US" altLang="ru-RU" sz="2000" baseline="-25000" dirty="0"/>
              <a:t>2</a:t>
            </a:r>
          </a:p>
        </p:txBody>
      </p:sp>
      <p:sp>
        <p:nvSpPr>
          <p:cNvPr id="6150" name="Text Box 29"/>
          <p:cNvSpPr txBox="1"/>
          <p:nvPr/>
        </p:nvSpPr>
        <p:spPr>
          <a:xfrm>
            <a:off x="247650" y="2254250"/>
            <a:ext cx="5461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ru-RU" sz="2000" dirty="0"/>
              <a:t>E</a:t>
            </a:r>
            <a:r>
              <a:rPr lang="en-US" altLang="ru-RU" sz="2000" baseline="-25000" dirty="0"/>
              <a:t>1</a:t>
            </a:r>
          </a:p>
        </p:txBody>
      </p:sp>
      <p:sp>
        <p:nvSpPr>
          <p:cNvPr id="2078" name="AutoShape 30"/>
          <p:cNvSpPr/>
          <p:nvPr/>
        </p:nvSpPr>
        <p:spPr>
          <a:xfrm>
            <a:off x="1881188" y="1371600"/>
            <a:ext cx="390525" cy="287338"/>
          </a:xfrm>
          <a:prstGeom prst="star16">
            <a:avLst>
              <a:gd name="adj" fmla="val 37500"/>
            </a:avLst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ru-RU" altLang="ru-RU" sz="1800" dirty="0"/>
          </a:p>
        </p:txBody>
      </p:sp>
      <p:sp>
        <p:nvSpPr>
          <p:cNvPr id="2079" name="AutoShape 31"/>
          <p:cNvSpPr/>
          <p:nvPr/>
        </p:nvSpPr>
        <p:spPr>
          <a:xfrm>
            <a:off x="1881188" y="2311400"/>
            <a:ext cx="390525" cy="287338"/>
          </a:xfrm>
          <a:prstGeom prst="star16">
            <a:avLst>
              <a:gd name="adj" fmla="val 37500"/>
            </a:avLst>
          </a:prstGeom>
          <a:solidFill>
            <a:srgbClr val="3366FF"/>
          </a:solidFill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ru-RU" altLang="ru-RU" sz="1800" dirty="0"/>
          </a:p>
        </p:txBody>
      </p:sp>
      <p:sp>
        <p:nvSpPr>
          <p:cNvPr id="2080" name="AutoShape 32"/>
          <p:cNvSpPr/>
          <p:nvPr/>
        </p:nvSpPr>
        <p:spPr>
          <a:xfrm flipV="1">
            <a:off x="1817688" y="1485900"/>
            <a:ext cx="508000" cy="977900"/>
          </a:xfrm>
          <a:prstGeom prst="downArrow">
            <a:avLst>
              <a:gd name="adj1" fmla="val 50000"/>
              <a:gd name="adj2" fmla="val 48125"/>
            </a:avLst>
          </a:prstGeom>
          <a:solidFill>
            <a:schemeClr val="accent1">
              <a:alpha val="67842"/>
            </a:scheme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ru-RU" altLang="ru-RU" sz="1800" dirty="0"/>
          </a:p>
        </p:txBody>
      </p:sp>
      <p:grpSp>
        <p:nvGrpSpPr>
          <p:cNvPr id="2081" name="Group 33"/>
          <p:cNvGrpSpPr/>
          <p:nvPr/>
        </p:nvGrpSpPr>
        <p:grpSpPr>
          <a:xfrm>
            <a:off x="47625" y="1935163"/>
            <a:ext cx="1173163" cy="550862"/>
            <a:chOff x="930" y="1178"/>
            <a:chExt cx="682" cy="347"/>
          </a:xfrm>
        </p:grpSpPr>
        <p:sp>
          <p:nvSpPr>
            <p:cNvPr id="6195" name="Freeform 34"/>
            <p:cNvSpPr/>
            <p:nvPr/>
          </p:nvSpPr>
          <p:spPr>
            <a:xfrm>
              <a:off x="930" y="1185"/>
              <a:ext cx="408" cy="11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37"/>
                </a:cxn>
                <a:cxn ang="0">
                  <a:pos x="4" y="7"/>
                </a:cxn>
                <a:cxn ang="0">
                  <a:pos x="6" y="45"/>
                </a:cxn>
                <a:cxn ang="0">
                  <a:pos x="8" y="7"/>
                </a:cxn>
                <a:cxn ang="0">
                  <a:pos x="8" y="7"/>
                </a:cxn>
              </a:cxnLst>
              <a:rect l="0" t="0" r="0" b="0"/>
              <a:pathLst>
                <a:path w="884" h="136">
                  <a:moveTo>
                    <a:pt x="0" y="0"/>
                  </a:moveTo>
                  <a:cubicBezTo>
                    <a:pt x="54" y="54"/>
                    <a:pt x="109" y="109"/>
                    <a:pt x="181" y="113"/>
                  </a:cubicBezTo>
                  <a:cubicBezTo>
                    <a:pt x="253" y="117"/>
                    <a:pt x="351" y="18"/>
                    <a:pt x="430" y="22"/>
                  </a:cubicBezTo>
                  <a:cubicBezTo>
                    <a:pt x="509" y="26"/>
                    <a:pt x="589" y="136"/>
                    <a:pt x="657" y="136"/>
                  </a:cubicBezTo>
                  <a:cubicBezTo>
                    <a:pt x="725" y="136"/>
                    <a:pt x="801" y="41"/>
                    <a:pt x="839" y="22"/>
                  </a:cubicBezTo>
                  <a:cubicBezTo>
                    <a:pt x="877" y="3"/>
                    <a:pt x="880" y="33"/>
                    <a:pt x="884" y="22"/>
                  </a:cubicBezTo>
                </a:path>
              </a:pathLst>
            </a:custGeom>
            <a:noFill/>
            <a:ln w="28575" cap="flat" cmpd="sng">
              <a:solidFill>
                <a:srgbClr val="66FF33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ru-RU" altLang="en-US"/>
            </a:p>
          </p:txBody>
        </p:sp>
        <p:sp>
          <p:nvSpPr>
            <p:cNvPr id="6196" name="AutoShape 35"/>
            <p:cNvSpPr/>
            <p:nvPr/>
          </p:nvSpPr>
          <p:spPr>
            <a:xfrm>
              <a:off x="1311" y="1178"/>
              <a:ext cx="204" cy="91"/>
            </a:xfrm>
            <a:prstGeom prst="homePlate">
              <a:avLst>
                <a:gd name="adj" fmla="val 56043"/>
              </a:avLst>
            </a:prstGeom>
            <a:solidFill>
              <a:srgbClr val="66FF33">
                <a:alpha val="85097"/>
              </a:srgbClr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ru-RU" altLang="ru-RU" sz="1800" dirty="0"/>
            </a:p>
          </p:txBody>
        </p:sp>
        <p:sp>
          <p:nvSpPr>
            <p:cNvPr id="6197" name="Text Box 36"/>
            <p:cNvSpPr txBox="1"/>
            <p:nvPr/>
          </p:nvSpPr>
          <p:spPr>
            <a:xfrm>
              <a:off x="1338" y="1275"/>
              <a:ext cx="27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ru-RU" sz="2000" b="1" dirty="0">
                  <a:solidFill>
                    <a:srgbClr val="66FF33"/>
                  </a:solidFill>
                </a:rPr>
                <a:t>h</a:t>
              </a:r>
              <a:r>
                <a:rPr lang="en-US" altLang="ru-RU" sz="2000" b="1" dirty="0">
                  <a:solidFill>
                    <a:srgbClr val="66FF33"/>
                  </a:solidFill>
                  <a:latin typeface="Symbol" panose="05050102010706020507" pitchFamily="18" charset="2"/>
                </a:rPr>
                <a:t>n</a:t>
              </a:r>
            </a:p>
          </p:txBody>
        </p:sp>
      </p:grpSp>
      <p:grpSp>
        <p:nvGrpSpPr>
          <p:cNvPr id="2101" name="Group 53"/>
          <p:cNvGrpSpPr/>
          <p:nvPr/>
        </p:nvGrpSpPr>
        <p:grpSpPr>
          <a:xfrm>
            <a:off x="1900238" y="1933575"/>
            <a:ext cx="1173162" cy="550863"/>
            <a:chOff x="2356" y="2273"/>
            <a:chExt cx="682" cy="347"/>
          </a:xfrm>
        </p:grpSpPr>
        <p:sp>
          <p:nvSpPr>
            <p:cNvPr id="6192" name="Freeform 50"/>
            <p:cNvSpPr/>
            <p:nvPr/>
          </p:nvSpPr>
          <p:spPr>
            <a:xfrm>
              <a:off x="2356" y="2280"/>
              <a:ext cx="408" cy="11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37"/>
                </a:cxn>
                <a:cxn ang="0">
                  <a:pos x="4" y="7"/>
                </a:cxn>
                <a:cxn ang="0">
                  <a:pos x="6" y="45"/>
                </a:cxn>
                <a:cxn ang="0">
                  <a:pos x="8" y="7"/>
                </a:cxn>
                <a:cxn ang="0">
                  <a:pos x="8" y="7"/>
                </a:cxn>
              </a:cxnLst>
              <a:rect l="0" t="0" r="0" b="0"/>
              <a:pathLst>
                <a:path w="884" h="136">
                  <a:moveTo>
                    <a:pt x="0" y="0"/>
                  </a:moveTo>
                  <a:cubicBezTo>
                    <a:pt x="54" y="54"/>
                    <a:pt x="109" y="109"/>
                    <a:pt x="181" y="113"/>
                  </a:cubicBezTo>
                  <a:cubicBezTo>
                    <a:pt x="253" y="117"/>
                    <a:pt x="351" y="18"/>
                    <a:pt x="430" y="22"/>
                  </a:cubicBezTo>
                  <a:cubicBezTo>
                    <a:pt x="509" y="26"/>
                    <a:pt x="589" y="136"/>
                    <a:pt x="657" y="136"/>
                  </a:cubicBezTo>
                  <a:cubicBezTo>
                    <a:pt x="725" y="136"/>
                    <a:pt x="801" y="41"/>
                    <a:pt x="839" y="22"/>
                  </a:cubicBezTo>
                  <a:cubicBezTo>
                    <a:pt x="877" y="3"/>
                    <a:pt x="880" y="33"/>
                    <a:pt x="884" y="22"/>
                  </a:cubicBezTo>
                </a:path>
              </a:pathLst>
            </a:custGeom>
            <a:noFill/>
            <a:ln w="28575" cap="flat" cmpd="sng">
              <a:solidFill>
                <a:srgbClr val="CCFFCC">
                  <a:alpha val="65097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ru-RU" altLang="en-US"/>
            </a:p>
          </p:txBody>
        </p:sp>
        <p:sp>
          <p:nvSpPr>
            <p:cNvPr id="6193" name="AutoShape 51"/>
            <p:cNvSpPr/>
            <p:nvPr/>
          </p:nvSpPr>
          <p:spPr>
            <a:xfrm>
              <a:off x="2737" y="2273"/>
              <a:ext cx="204" cy="91"/>
            </a:xfrm>
            <a:prstGeom prst="homePlate">
              <a:avLst>
                <a:gd name="adj" fmla="val 56043"/>
              </a:avLst>
            </a:prstGeom>
            <a:solidFill>
              <a:srgbClr val="CCFFCC">
                <a:alpha val="85097"/>
              </a:srgbClr>
            </a:solidFill>
            <a:ln w="9525" cap="flat" cmpd="sng">
              <a:solidFill>
                <a:srgbClr val="CCFFCC">
                  <a:alpha val="4196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ru-RU" altLang="ru-RU" sz="1800" dirty="0">
                <a:solidFill>
                  <a:srgbClr val="66FF33"/>
                </a:solidFill>
              </a:endParaRPr>
            </a:p>
          </p:txBody>
        </p:sp>
        <p:sp>
          <p:nvSpPr>
            <p:cNvPr id="6194" name="Text Box 52"/>
            <p:cNvSpPr txBox="1"/>
            <p:nvPr/>
          </p:nvSpPr>
          <p:spPr>
            <a:xfrm>
              <a:off x="2764" y="2370"/>
              <a:ext cx="27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ru-RU" sz="2000" b="1" dirty="0">
                  <a:solidFill>
                    <a:srgbClr val="CCFFCC"/>
                  </a:solidFill>
                </a:rPr>
                <a:t>h</a:t>
              </a:r>
              <a:r>
                <a:rPr lang="en-US" altLang="ru-RU" sz="2000" b="1" dirty="0">
                  <a:solidFill>
                    <a:srgbClr val="CCFFCC"/>
                  </a:solidFill>
                  <a:latin typeface="Symbol" panose="05050102010706020507" pitchFamily="18" charset="2"/>
                </a:rPr>
                <a:t>n</a:t>
              </a:r>
            </a:p>
          </p:txBody>
        </p:sp>
      </p:grpSp>
      <p:sp>
        <p:nvSpPr>
          <p:cNvPr id="6156" name="Line 55"/>
          <p:cNvSpPr/>
          <p:nvPr/>
        </p:nvSpPr>
        <p:spPr>
          <a:xfrm>
            <a:off x="703263" y="3521075"/>
            <a:ext cx="2027237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57" name="Line 56"/>
          <p:cNvSpPr/>
          <p:nvPr/>
        </p:nvSpPr>
        <p:spPr>
          <a:xfrm>
            <a:off x="711200" y="4537075"/>
            <a:ext cx="2027238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58" name="Text Box 57"/>
          <p:cNvSpPr txBox="1"/>
          <p:nvPr/>
        </p:nvSpPr>
        <p:spPr>
          <a:xfrm>
            <a:off x="166688" y="3394075"/>
            <a:ext cx="5461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ru-RU" sz="2000" dirty="0"/>
              <a:t>E</a:t>
            </a:r>
            <a:r>
              <a:rPr lang="en-US" altLang="ru-RU" sz="2000" baseline="-25000" dirty="0"/>
              <a:t>2</a:t>
            </a:r>
          </a:p>
        </p:txBody>
      </p:sp>
      <p:sp>
        <p:nvSpPr>
          <p:cNvPr id="6159" name="Text Box 58"/>
          <p:cNvSpPr txBox="1"/>
          <p:nvPr/>
        </p:nvSpPr>
        <p:spPr>
          <a:xfrm>
            <a:off x="169863" y="4257675"/>
            <a:ext cx="5461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ru-RU" sz="2000" dirty="0"/>
              <a:t>E</a:t>
            </a:r>
            <a:r>
              <a:rPr lang="en-US" altLang="ru-RU" sz="2000" baseline="-25000" dirty="0"/>
              <a:t>1</a:t>
            </a:r>
          </a:p>
        </p:txBody>
      </p:sp>
      <p:sp>
        <p:nvSpPr>
          <p:cNvPr id="2107" name="AutoShape 59"/>
          <p:cNvSpPr/>
          <p:nvPr/>
        </p:nvSpPr>
        <p:spPr>
          <a:xfrm>
            <a:off x="1841500" y="3378200"/>
            <a:ext cx="390525" cy="287338"/>
          </a:xfrm>
          <a:prstGeom prst="star16">
            <a:avLst>
              <a:gd name="adj" fmla="val 37500"/>
            </a:avLst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ru-RU" altLang="ru-RU" sz="1800" dirty="0"/>
          </a:p>
        </p:txBody>
      </p:sp>
      <p:sp>
        <p:nvSpPr>
          <p:cNvPr id="2108" name="AutoShape 60"/>
          <p:cNvSpPr/>
          <p:nvPr/>
        </p:nvSpPr>
        <p:spPr>
          <a:xfrm>
            <a:off x="1839913" y="4352925"/>
            <a:ext cx="390525" cy="287338"/>
          </a:xfrm>
          <a:prstGeom prst="star16">
            <a:avLst>
              <a:gd name="adj" fmla="val 37500"/>
            </a:avLst>
          </a:prstGeom>
          <a:solidFill>
            <a:srgbClr val="3366FF"/>
          </a:solidFill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ru-RU" altLang="ru-RU" sz="1800" dirty="0"/>
          </a:p>
        </p:txBody>
      </p:sp>
      <p:sp>
        <p:nvSpPr>
          <p:cNvPr id="2109" name="AutoShape 61"/>
          <p:cNvSpPr/>
          <p:nvPr/>
        </p:nvSpPr>
        <p:spPr>
          <a:xfrm>
            <a:off x="1776413" y="3538538"/>
            <a:ext cx="508000" cy="1008062"/>
          </a:xfrm>
          <a:prstGeom prst="downArrow">
            <a:avLst>
              <a:gd name="adj1" fmla="val 50000"/>
              <a:gd name="adj2" fmla="val 49609"/>
            </a:avLst>
          </a:prstGeom>
          <a:solidFill>
            <a:schemeClr val="accent1">
              <a:alpha val="67842"/>
            </a:scheme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ru-RU" altLang="ru-RU" sz="1800" dirty="0"/>
          </a:p>
        </p:txBody>
      </p:sp>
      <p:grpSp>
        <p:nvGrpSpPr>
          <p:cNvPr id="2110" name="Group 62"/>
          <p:cNvGrpSpPr/>
          <p:nvPr/>
        </p:nvGrpSpPr>
        <p:grpSpPr>
          <a:xfrm>
            <a:off x="39688" y="4065588"/>
            <a:ext cx="1173162" cy="550862"/>
            <a:chOff x="930" y="1178"/>
            <a:chExt cx="682" cy="347"/>
          </a:xfrm>
        </p:grpSpPr>
        <p:sp>
          <p:nvSpPr>
            <p:cNvPr id="6189" name="Freeform 63"/>
            <p:cNvSpPr/>
            <p:nvPr/>
          </p:nvSpPr>
          <p:spPr>
            <a:xfrm>
              <a:off x="930" y="1185"/>
              <a:ext cx="408" cy="11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37"/>
                </a:cxn>
                <a:cxn ang="0">
                  <a:pos x="4" y="7"/>
                </a:cxn>
                <a:cxn ang="0">
                  <a:pos x="6" y="45"/>
                </a:cxn>
                <a:cxn ang="0">
                  <a:pos x="8" y="7"/>
                </a:cxn>
                <a:cxn ang="0">
                  <a:pos x="8" y="7"/>
                </a:cxn>
              </a:cxnLst>
              <a:rect l="0" t="0" r="0" b="0"/>
              <a:pathLst>
                <a:path w="884" h="136">
                  <a:moveTo>
                    <a:pt x="0" y="0"/>
                  </a:moveTo>
                  <a:cubicBezTo>
                    <a:pt x="54" y="54"/>
                    <a:pt x="109" y="109"/>
                    <a:pt x="181" y="113"/>
                  </a:cubicBezTo>
                  <a:cubicBezTo>
                    <a:pt x="253" y="117"/>
                    <a:pt x="351" y="18"/>
                    <a:pt x="430" y="22"/>
                  </a:cubicBezTo>
                  <a:cubicBezTo>
                    <a:pt x="509" y="26"/>
                    <a:pt x="589" y="136"/>
                    <a:pt x="657" y="136"/>
                  </a:cubicBezTo>
                  <a:cubicBezTo>
                    <a:pt x="725" y="136"/>
                    <a:pt x="801" y="41"/>
                    <a:pt x="839" y="22"/>
                  </a:cubicBezTo>
                  <a:cubicBezTo>
                    <a:pt x="877" y="3"/>
                    <a:pt x="880" y="33"/>
                    <a:pt x="884" y="22"/>
                  </a:cubicBezTo>
                </a:path>
              </a:pathLst>
            </a:custGeom>
            <a:noFill/>
            <a:ln w="28575" cap="flat" cmpd="sng">
              <a:solidFill>
                <a:srgbClr val="66FF33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ru-RU" altLang="en-US"/>
            </a:p>
          </p:txBody>
        </p:sp>
        <p:sp>
          <p:nvSpPr>
            <p:cNvPr id="6190" name="AutoShape 64"/>
            <p:cNvSpPr/>
            <p:nvPr/>
          </p:nvSpPr>
          <p:spPr>
            <a:xfrm>
              <a:off x="1311" y="1178"/>
              <a:ext cx="204" cy="91"/>
            </a:xfrm>
            <a:prstGeom prst="homePlate">
              <a:avLst>
                <a:gd name="adj" fmla="val 56043"/>
              </a:avLst>
            </a:prstGeom>
            <a:solidFill>
              <a:srgbClr val="66FF33">
                <a:alpha val="85097"/>
              </a:srgbClr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ru-RU" altLang="ru-RU" sz="1800" dirty="0"/>
            </a:p>
          </p:txBody>
        </p:sp>
        <p:sp>
          <p:nvSpPr>
            <p:cNvPr id="6191" name="Text Box 65"/>
            <p:cNvSpPr txBox="1"/>
            <p:nvPr/>
          </p:nvSpPr>
          <p:spPr>
            <a:xfrm>
              <a:off x="1338" y="1275"/>
              <a:ext cx="27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ru-RU" sz="2000" b="1" dirty="0">
                  <a:solidFill>
                    <a:srgbClr val="66FF33"/>
                  </a:solidFill>
                </a:rPr>
                <a:t>h</a:t>
              </a:r>
              <a:r>
                <a:rPr lang="en-US" altLang="ru-RU" sz="2000" b="1" dirty="0">
                  <a:solidFill>
                    <a:srgbClr val="66FF33"/>
                  </a:solidFill>
                  <a:latin typeface="Symbol" panose="05050102010706020507" pitchFamily="18" charset="2"/>
                </a:rPr>
                <a:t>n</a:t>
              </a:r>
            </a:p>
          </p:txBody>
        </p:sp>
      </p:grpSp>
      <p:grpSp>
        <p:nvGrpSpPr>
          <p:cNvPr id="2118" name="Group 70"/>
          <p:cNvGrpSpPr/>
          <p:nvPr/>
        </p:nvGrpSpPr>
        <p:grpSpPr>
          <a:xfrm>
            <a:off x="1995488" y="3530600"/>
            <a:ext cx="1173162" cy="550863"/>
            <a:chOff x="930" y="1178"/>
            <a:chExt cx="682" cy="347"/>
          </a:xfrm>
        </p:grpSpPr>
        <p:sp>
          <p:nvSpPr>
            <p:cNvPr id="6186" name="Freeform 71"/>
            <p:cNvSpPr/>
            <p:nvPr/>
          </p:nvSpPr>
          <p:spPr>
            <a:xfrm>
              <a:off x="930" y="1185"/>
              <a:ext cx="408" cy="11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37"/>
                </a:cxn>
                <a:cxn ang="0">
                  <a:pos x="4" y="7"/>
                </a:cxn>
                <a:cxn ang="0">
                  <a:pos x="6" y="45"/>
                </a:cxn>
                <a:cxn ang="0">
                  <a:pos x="8" y="7"/>
                </a:cxn>
                <a:cxn ang="0">
                  <a:pos x="8" y="7"/>
                </a:cxn>
              </a:cxnLst>
              <a:rect l="0" t="0" r="0" b="0"/>
              <a:pathLst>
                <a:path w="884" h="136">
                  <a:moveTo>
                    <a:pt x="0" y="0"/>
                  </a:moveTo>
                  <a:cubicBezTo>
                    <a:pt x="54" y="54"/>
                    <a:pt x="109" y="109"/>
                    <a:pt x="181" y="113"/>
                  </a:cubicBezTo>
                  <a:cubicBezTo>
                    <a:pt x="253" y="117"/>
                    <a:pt x="351" y="18"/>
                    <a:pt x="430" y="22"/>
                  </a:cubicBezTo>
                  <a:cubicBezTo>
                    <a:pt x="509" y="26"/>
                    <a:pt x="589" y="136"/>
                    <a:pt x="657" y="136"/>
                  </a:cubicBezTo>
                  <a:cubicBezTo>
                    <a:pt x="725" y="136"/>
                    <a:pt x="801" y="41"/>
                    <a:pt x="839" y="22"/>
                  </a:cubicBezTo>
                  <a:cubicBezTo>
                    <a:pt x="877" y="3"/>
                    <a:pt x="880" y="33"/>
                    <a:pt x="884" y="22"/>
                  </a:cubicBezTo>
                </a:path>
              </a:pathLst>
            </a:custGeom>
            <a:noFill/>
            <a:ln w="28575" cap="flat" cmpd="sng">
              <a:solidFill>
                <a:srgbClr val="66FF33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ru-RU" altLang="en-US"/>
            </a:p>
          </p:txBody>
        </p:sp>
        <p:sp>
          <p:nvSpPr>
            <p:cNvPr id="6187" name="AutoShape 72"/>
            <p:cNvSpPr/>
            <p:nvPr/>
          </p:nvSpPr>
          <p:spPr>
            <a:xfrm>
              <a:off x="1311" y="1178"/>
              <a:ext cx="204" cy="91"/>
            </a:xfrm>
            <a:prstGeom prst="homePlate">
              <a:avLst>
                <a:gd name="adj" fmla="val 56043"/>
              </a:avLst>
            </a:prstGeom>
            <a:solidFill>
              <a:srgbClr val="66FF33">
                <a:alpha val="85097"/>
              </a:srgbClr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ru-RU" altLang="ru-RU" sz="1800" dirty="0"/>
            </a:p>
          </p:txBody>
        </p:sp>
        <p:sp>
          <p:nvSpPr>
            <p:cNvPr id="6188" name="Text Box 73"/>
            <p:cNvSpPr txBox="1"/>
            <p:nvPr/>
          </p:nvSpPr>
          <p:spPr>
            <a:xfrm>
              <a:off x="1338" y="1275"/>
              <a:ext cx="27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ru-RU" sz="2000" b="1" dirty="0">
                  <a:solidFill>
                    <a:srgbClr val="66FF33"/>
                  </a:solidFill>
                </a:rPr>
                <a:t>h</a:t>
              </a:r>
              <a:r>
                <a:rPr lang="en-US" altLang="ru-RU" sz="2000" b="1" dirty="0">
                  <a:solidFill>
                    <a:srgbClr val="66FF33"/>
                  </a:solidFill>
                  <a:latin typeface="Symbol" panose="05050102010706020507" pitchFamily="18" charset="2"/>
                </a:rPr>
                <a:t>n</a:t>
              </a:r>
            </a:p>
          </p:txBody>
        </p:sp>
      </p:grpSp>
      <p:sp>
        <p:nvSpPr>
          <p:cNvPr id="6165" name="Text Box 80"/>
          <p:cNvSpPr txBox="1"/>
          <p:nvPr/>
        </p:nvSpPr>
        <p:spPr>
          <a:xfrm rot="10800000">
            <a:off x="8847138" y="982663"/>
            <a:ext cx="733425" cy="3810000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ru-RU" altLang="ru-RU" sz="1800" dirty="0">
                <a:solidFill>
                  <a:srgbClr val="3366FF"/>
                </a:solidFill>
              </a:rPr>
              <a:t>Вынужденные (стимулированные, индуцированные)  переходы</a:t>
            </a:r>
            <a:endParaRPr lang="en-US" altLang="ru-RU" sz="1800" dirty="0">
              <a:solidFill>
                <a:srgbClr val="3366FF"/>
              </a:solidFill>
            </a:endParaRPr>
          </a:p>
        </p:txBody>
      </p:sp>
      <p:sp>
        <p:nvSpPr>
          <p:cNvPr id="6166" name="Rectangle 94"/>
          <p:cNvSpPr/>
          <p:nvPr/>
        </p:nvSpPr>
        <p:spPr>
          <a:xfrm>
            <a:off x="0" y="3309938"/>
            <a:ext cx="9906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ru-RU" altLang="ru-RU" sz="1800" dirty="0"/>
          </a:p>
        </p:txBody>
      </p:sp>
      <p:sp>
        <p:nvSpPr>
          <p:cNvPr id="6167" name="Rectangle 96"/>
          <p:cNvSpPr/>
          <p:nvPr/>
        </p:nvSpPr>
        <p:spPr>
          <a:xfrm>
            <a:off x="0" y="3309938"/>
            <a:ext cx="9906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ru-RU" altLang="ru-RU" sz="1800" dirty="0"/>
          </a:p>
        </p:txBody>
      </p:sp>
      <p:sp>
        <p:nvSpPr>
          <p:cNvPr id="6168" name="Rectangle 98"/>
          <p:cNvSpPr/>
          <p:nvPr/>
        </p:nvSpPr>
        <p:spPr>
          <a:xfrm>
            <a:off x="0" y="3309938"/>
            <a:ext cx="9906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ru-RU" altLang="ru-RU" sz="1800" dirty="0"/>
          </a:p>
        </p:txBody>
      </p:sp>
      <p:sp>
        <p:nvSpPr>
          <p:cNvPr id="6169" name="Rectangle 105"/>
          <p:cNvSpPr/>
          <p:nvPr/>
        </p:nvSpPr>
        <p:spPr>
          <a:xfrm>
            <a:off x="0" y="3309938"/>
            <a:ext cx="9906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ru-RU" altLang="ru-RU" sz="1800" dirty="0"/>
          </a:p>
        </p:txBody>
      </p:sp>
      <p:grpSp>
        <p:nvGrpSpPr>
          <p:cNvPr id="6170" name="Group 152"/>
          <p:cNvGrpSpPr/>
          <p:nvPr/>
        </p:nvGrpSpPr>
        <p:grpSpPr>
          <a:xfrm>
            <a:off x="4448175" y="4848225"/>
            <a:ext cx="4087813" cy="830263"/>
            <a:chOff x="3424" y="3839"/>
            <a:chExt cx="2543" cy="523"/>
          </a:xfrm>
        </p:grpSpPr>
        <p:sp>
          <p:nvSpPr>
            <p:cNvPr id="6184" name="Text Box 106"/>
            <p:cNvSpPr txBox="1"/>
            <p:nvPr/>
          </p:nvSpPr>
          <p:spPr>
            <a:xfrm>
              <a:off x="4221" y="3839"/>
              <a:ext cx="1746" cy="52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ru-RU" altLang="ru-RU" sz="1600" b="1" dirty="0"/>
                <a:t>плотность энергии внешнего поля в интервале  частот </a:t>
              </a:r>
              <a:r>
                <a:rPr lang="en-US" altLang="ru-RU" sz="1600" b="1" dirty="0"/>
                <a:t>d</a:t>
              </a:r>
              <a:r>
                <a:rPr lang="en-US" altLang="ru-RU" sz="1600" b="1" dirty="0">
                  <a:latin typeface="Symbol" panose="05050102010706020507" pitchFamily="18" charset="2"/>
                </a:rPr>
                <a:t>n</a:t>
              </a:r>
              <a:r>
                <a:rPr lang="ru-RU" altLang="ru-RU" sz="1400" b="1" dirty="0"/>
                <a:t> </a:t>
              </a:r>
              <a:endParaRPr lang="en-US" altLang="ru-RU" sz="1400" b="1" dirty="0"/>
            </a:p>
          </p:txBody>
        </p:sp>
        <p:graphicFrame>
          <p:nvGraphicFramePr>
            <p:cNvPr id="6185" name="Object 107"/>
            <p:cNvGraphicFramePr>
              <a:graphicFrameLocks noChangeAspect="1"/>
            </p:cNvGraphicFramePr>
            <p:nvPr/>
          </p:nvGraphicFramePr>
          <p:xfrm>
            <a:off x="3424" y="3875"/>
            <a:ext cx="773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9" r:id="rId6" imgW="698500" imgH="241300" progId="Equation.3">
                    <p:embed/>
                  </p:oleObj>
                </mc:Choice>
                <mc:Fallback>
                  <p:oleObj r:id="rId6" imgW="698500" imgH="241300" progId="Equation.3">
                    <p:embed/>
                    <p:pic>
                      <p:nvPicPr>
                        <p:cNvPr id="0" name="Изображение 3078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3424" y="3875"/>
                          <a:ext cx="773" cy="28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171" name="Rectangle 117"/>
          <p:cNvSpPr/>
          <p:nvPr/>
        </p:nvSpPr>
        <p:spPr>
          <a:xfrm>
            <a:off x="0" y="3309938"/>
            <a:ext cx="9906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ru-RU" altLang="ru-RU" sz="1800" dirty="0"/>
          </a:p>
        </p:txBody>
      </p:sp>
      <p:grpSp>
        <p:nvGrpSpPr>
          <p:cNvPr id="6172" name="Group 140"/>
          <p:cNvGrpSpPr/>
          <p:nvPr/>
        </p:nvGrpSpPr>
        <p:grpSpPr>
          <a:xfrm>
            <a:off x="3800475" y="1343025"/>
            <a:ext cx="2794000" cy="1187450"/>
            <a:chOff x="2295" y="2025"/>
            <a:chExt cx="1624" cy="748"/>
          </a:xfrm>
        </p:grpSpPr>
        <p:graphicFrame>
          <p:nvGraphicFramePr>
            <p:cNvPr id="6182" name="Object 95"/>
            <p:cNvGraphicFramePr>
              <a:graphicFrameLocks noChangeAspect="1"/>
            </p:cNvGraphicFramePr>
            <p:nvPr/>
          </p:nvGraphicFramePr>
          <p:xfrm>
            <a:off x="2304" y="2025"/>
            <a:ext cx="1592" cy="4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0" r:id="rId8" imgW="939165" imgH="241300" progId="Equation.3">
                    <p:embed/>
                  </p:oleObj>
                </mc:Choice>
                <mc:Fallback>
                  <p:oleObj r:id="rId8" imgW="939165" imgH="241300" progId="Equation.3">
                    <p:embed/>
                    <p:pic>
                      <p:nvPicPr>
                        <p:cNvPr id="0" name="Изображение 3080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2304" y="2025"/>
                          <a:ext cx="1592" cy="40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83" name="Object 136"/>
            <p:cNvGraphicFramePr>
              <a:graphicFrameLocks noChangeAspect="1"/>
            </p:cNvGraphicFramePr>
            <p:nvPr/>
          </p:nvGraphicFramePr>
          <p:xfrm>
            <a:off x="2295" y="2478"/>
            <a:ext cx="1624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1" r:id="rId10" imgW="1257300" imgH="228600" progId="Equation.3">
                    <p:embed/>
                  </p:oleObj>
                </mc:Choice>
                <mc:Fallback>
                  <p:oleObj r:id="rId10" imgW="1257300" imgH="228600" progId="Equation.3">
                    <p:embed/>
                    <p:pic>
                      <p:nvPicPr>
                        <p:cNvPr id="0" name="Изображение 3075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2295" y="2478"/>
                          <a:ext cx="1624" cy="29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173" name="Group 151"/>
          <p:cNvGrpSpPr/>
          <p:nvPr/>
        </p:nvGrpSpPr>
        <p:grpSpPr>
          <a:xfrm>
            <a:off x="3319463" y="3286125"/>
            <a:ext cx="2894012" cy="1203325"/>
            <a:chOff x="2335" y="3022"/>
            <a:chExt cx="1683" cy="758"/>
          </a:xfrm>
        </p:grpSpPr>
        <p:graphicFrame>
          <p:nvGraphicFramePr>
            <p:cNvPr id="6180" name="Object 97"/>
            <p:cNvGraphicFramePr>
              <a:graphicFrameLocks noChangeAspect="1"/>
            </p:cNvGraphicFramePr>
            <p:nvPr/>
          </p:nvGraphicFramePr>
          <p:xfrm>
            <a:off x="2426" y="3022"/>
            <a:ext cx="1592" cy="4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2" r:id="rId12" imgW="939165" imgH="241300" progId="Equation.3">
                    <p:embed/>
                  </p:oleObj>
                </mc:Choice>
                <mc:Fallback>
                  <p:oleObj r:id="rId12" imgW="939165" imgH="241300" progId="Equation.3">
                    <p:embed/>
                    <p:pic>
                      <p:nvPicPr>
                        <p:cNvPr id="0" name="Изображение 3076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2426" y="3022"/>
                          <a:ext cx="1592" cy="40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81" name="Object 139"/>
            <p:cNvGraphicFramePr>
              <a:graphicFrameLocks noChangeAspect="1"/>
            </p:cNvGraphicFramePr>
            <p:nvPr/>
          </p:nvGraphicFramePr>
          <p:xfrm>
            <a:off x="2335" y="3475"/>
            <a:ext cx="1679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3" r:id="rId14" imgW="1257300" imgH="228600" progId="Equation.3">
                    <p:embed/>
                  </p:oleObj>
                </mc:Choice>
                <mc:Fallback>
                  <p:oleObj r:id="rId14" imgW="1257300" imgH="228600" progId="Equation.3">
                    <p:embed/>
                    <p:pic>
                      <p:nvPicPr>
                        <p:cNvPr id="0" name="Изображение 3079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2335" y="3475"/>
                          <a:ext cx="1679" cy="30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97" name="Group 149"/>
          <p:cNvGrpSpPr/>
          <p:nvPr/>
        </p:nvGrpSpPr>
        <p:grpSpPr>
          <a:xfrm>
            <a:off x="473075" y="4824413"/>
            <a:ext cx="3436938" cy="735012"/>
            <a:chOff x="474" y="3839"/>
            <a:chExt cx="1998" cy="463"/>
          </a:xfrm>
        </p:grpSpPr>
        <p:sp>
          <p:nvSpPr>
            <p:cNvPr id="6178" name="Text Box 145"/>
            <p:cNvSpPr txBox="1"/>
            <p:nvPr/>
          </p:nvSpPr>
          <p:spPr>
            <a:xfrm>
              <a:off x="474" y="3934"/>
              <a:ext cx="1567" cy="368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ru-RU" altLang="ru-RU" sz="1600" b="1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Кванты тождественны !!!</a:t>
              </a:r>
            </a:p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ru-RU" altLang="ru-RU" sz="1600" b="1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Отсюда  и когерентность</a:t>
              </a:r>
              <a:endParaRPr lang="en-US" altLang="ru-RU" sz="1600" b="1" dirty="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79" name="AutoShape 148"/>
            <p:cNvSpPr/>
            <p:nvPr/>
          </p:nvSpPr>
          <p:spPr>
            <a:xfrm>
              <a:off x="2064" y="3839"/>
              <a:ext cx="408" cy="408"/>
            </a:xfrm>
            <a:custGeom>
              <a:avLst/>
              <a:gdLst>
                <a:gd name="txL" fmla="*/ 3071 w 21600"/>
                <a:gd name="txT" fmla="*/ 12335 h 21600"/>
                <a:gd name="txR" fmla="*/ 18529 w 21600"/>
                <a:gd name="txB" fmla="*/ 18529 h 21600"/>
              </a:gdLst>
              <a:ahLst/>
              <a:cxnLst>
                <a:cxn ang="17694720">
                  <a:pos x="0" y="0"/>
                </a:cxn>
                <a:cxn ang="11796480">
                  <a:pos x="0" y="0"/>
                </a:cxn>
                <a:cxn ang="17694720">
                  <a:pos x="0" y="0"/>
                </a:cxn>
                <a:cxn ang="11796480">
                  <a:pos x="0" y="0"/>
                </a:cxn>
                <a:cxn ang="5898240">
                  <a:pos x="0" y="0"/>
                </a:cxn>
                <a:cxn ang="589824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1600" h="21600">
                  <a:moveTo>
                    <a:pt x="15429" y="0"/>
                  </a:moveTo>
                  <a:lnTo>
                    <a:pt x="9257" y="6171"/>
                  </a:lnTo>
                  <a:lnTo>
                    <a:pt x="12343" y="6171"/>
                  </a:lnTo>
                  <a:lnTo>
                    <a:pt x="12343" y="12343"/>
                  </a:lnTo>
                  <a:lnTo>
                    <a:pt x="6171" y="12343"/>
                  </a:lnTo>
                  <a:lnTo>
                    <a:pt x="6171" y="9257"/>
                  </a:lnTo>
                  <a:lnTo>
                    <a:pt x="0" y="15429"/>
                  </a:lnTo>
                  <a:lnTo>
                    <a:pt x="6171" y="21600"/>
                  </a:lnTo>
                  <a:lnTo>
                    <a:pt x="6171" y="18514"/>
                  </a:lnTo>
                  <a:lnTo>
                    <a:pt x="18514" y="18514"/>
                  </a:lnTo>
                  <a:lnTo>
                    <a:pt x="18514" y="6171"/>
                  </a:lnTo>
                  <a:lnTo>
                    <a:pt x="21600" y="6171"/>
                  </a:lnTo>
                  <a:lnTo>
                    <a:pt x="15429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FF0000">
                  <a:alpha val="10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ru-RU" altLang="en-US"/>
            </a:p>
          </p:txBody>
        </p:sp>
      </p:grpSp>
      <p:sp>
        <p:nvSpPr>
          <p:cNvPr id="6175" name="Rectangle 154"/>
          <p:cNvSpPr>
            <a:spLocks noGrp="1"/>
          </p:cNvSpPr>
          <p:nvPr>
            <p:ph type="title"/>
          </p:nvPr>
        </p:nvSpPr>
        <p:spPr>
          <a:xfrm>
            <a:off x="428625" y="198438"/>
            <a:ext cx="8785225" cy="468312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>
              <a:lnSpc>
                <a:spcPct val="70000"/>
              </a:lnSpc>
            </a:pPr>
            <a:r>
              <a:rPr lang="ru-RU" altLang="ja-JP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Вынужденные (индуцированные) переходы</a:t>
            </a:r>
            <a:endParaRPr lang="en-US" altLang="ru-RU" sz="32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6176" name="Объект 2"/>
          <p:cNvGraphicFramePr>
            <a:graphicFrameLocks noChangeAspect="1"/>
          </p:cNvGraphicFramePr>
          <p:nvPr/>
        </p:nvGraphicFramePr>
        <p:xfrm>
          <a:off x="6548438" y="3792538"/>
          <a:ext cx="1844675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r:id="rId16" imgW="951865" imgH="419100" progId="Equation.KSEE3">
                  <p:embed/>
                </p:oleObj>
              </mc:Choice>
              <mc:Fallback>
                <p:oleObj r:id="rId16" imgW="951865" imgH="419100" progId="Equation.KSEE3">
                  <p:embed/>
                  <p:pic>
                    <p:nvPicPr>
                      <p:cNvPr id="0" name="Изображение 3077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548438" y="3792538"/>
                        <a:ext cx="1844675" cy="812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77" name="TextBox 3"/>
          <p:cNvSpPr txBox="1"/>
          <p:nvPr/>
        </p:nvSpPr>
        <p:spPr>
          <a:xfrm>
            <a:off x="128588" y="5913438"/>
            <a:ext cx="9361487" cy="646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ru-RU" altLang="ru-RU" sz="1800" dirty="0"/>
              <a:t>Вероятность индуцированного поглощения равна вероятности индуцированного испускания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71 0.00254 L 0.1849 0.0018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0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1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1000"/>
                                        <p:tgtEl>
                                          <p:spTgt spid="2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1000"/>
                                        <p:tgtEl>
                                          <p:spTgt spid="2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5" dur="1000"/>
                                        <p:tgtEl>
                                          <p:spTgt spid="20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" dur="1000"/>
                                        <p:tgtEl>
                                          <p:spTgt spid="20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-2.59259E-6 L 0.19566 -0.00254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21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800" y="-1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2" dur="2000"/>
                                        <p:tgtEl>
                                          <p:spTgt spid="2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4" dur="2000"/>
                                        <p:tgtEl>
                                          <p:spTgt spid="21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2000" fill="hold"/>
                                        <p:tgtEl>
                                          <p:spTgt spid="2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000" fill="hold"/>
                                        <p:tgtEl>
                                          <p:spTgt spid="2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2" dur="2000"/>
                                        <p:tgtEl>
                                          <p:spTgt spid="2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000"/>
                            </p:stCondLst>
                            <p:childTnLst>
                              <p:par>
                                <p:cTn id="44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-3.33333E-6 L 0.10243 -3.33333E-6 " pathEditMode="relative" rAng="0" ptsTypes="AA">
                                      <p:cBhvr>
                                        <p:cTn id="45" dur="2000" fill="hold"/>
                                        <p:tgtEl>
                                          <p:spTgt spid="21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00" y="0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566 -0.00254 L 0.29792 -0.00254 " pathEditMode="relative" rAng="0" ptsTypes="AA">
                                      <p:cBhvr>
                                        <p:cTn id="47" dur="2000" fill="hold"/>
                                        <p:tgtEl>
                                          <p:spTgt spid="21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2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5300" y="116205"/>
            <a:ext cx="8915400" cy="617855"/>
          </a:xfrm>
        </p:spPr>
        <p:txBody>
          <a:bodyPr/>
          <a:lstStyle/>
          <a:p>
            <a:r>
              <a:rPr lang="ru-RU" altLang="ja-JP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Вынужденные (индуцированные) переходы</a:t>
            </a:r>
            <a:endParaRPr lang="ru-RU" altLang="en-US" dirty="0"/>
          </a:p>
        </p:txBody>
      </p:sp>
      <p:graphicFrame>
        <p:nvGraphicFramePr>
          <p:cNvPr id="6146" name="Object 99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792403115"/>
              </p:ext>
            </p:extLst>
          </p:nvPr>
        </p:nvGraphicFramePr>
        <p:xfrm>
          <a:off x="2844930" y="3445983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" r:id="rId3" imgW="114300" imgH="215900" progId="Equation.3">
                  <p:embed/>
                </p:oleObj>
              </mc:Choice>
              <mc:Fallback>
                <p:oleObj r:id="rId3" imgW="114300" imgH="215900" progId="Equation.3">
                  <p:embed/>
                  <p:pic>
                    <p:nvPicPr>
                      <p:cNvPr id="0" name="Изображение 3083"/>
                      <p:cNvPicPr/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>
                      <a:xfrm>
                        <a:off x="2844930" y="3445983"/>
                        <a:ext cx="114300" cy="2159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Замещающее содержимое 6">
            <a:hlinkClick r:id="" action="ppaction://ole?verb=0"/>
          </p:cNvPr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53558782"/>
              </p:ext>
            </p:extLst>
          </p:nvPr>
        </p:nvGraphicFramePr>
        <p:xfrm>
          <a:off x="4016870" y="2510289"/>
          <a:ext cx="1363662" cy="62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" r:id="rId5" imgW="914400" imgH="215900" progId="Equation.KSEE3">
                  <p:embed/>
                </p:oleObj>
              </mc:Choice>
              <mc:Fallback>
                <p:oleObj r:id="rId5" imgW="914400" imgH="215900" progId="Equation.KSEE3">
                  <p:embed/>
                  <p:pic>
                    <p:nvPicPr>
                      <p:cNvPr id="0" name="Изображение 10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16870" y="2510289"/>
                        <a:ext cx="1363662" cy="627063"/>
                      </a:xfrm>
                      <a:prstGeom prst="rect">
                        <a:avLst/>
                      </a:prstGeom>
                      <a:ln w="1905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Текстовое поле 4"/>
          <p:cNvSpPr txBox="1"/>
          <p:nvPr/>
        </p:nvSpPr>
        <p:spPr>
          <a:xfrm>
            <a:off x="200660" y="764540"/>
            <a:ext cx="5669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Скорость вынужденного перехода. Частота </a:t>
            </a:r>
            <a:r>
              <a:rPr lang="ru-RU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Раби</a:t>
            </a:r>
            <a:r>
              <a:rPr lang="ru-RU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147" name="Line 26"/>
          <p:cNvSpPr/>
          <p:nvPr/>
        </p:nvSpPr>
        <p:spPr>
          <a:xfrm>
            <a:off x="712788" y="1678305"/>
            <a:ext cx="2027237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48" name="Line 27"/>
          <p:cNvSpPr/>
          <p:nvPr/>
        </p:nvSpPr>
        <p:spPr>
          <a:xfrm>
            <a:off x="719138" y="2643505"/>
            <a:ext cx="2027237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49" name="Text Box 28"/>
          <p:cNvSpPr txBox="1"/>
          <p:nvPr/>
        </p:nvSpPr>
        <p:spPr>
          <a:xfrm>
            <a:off x="244475" y="1564005"/>
            <a:ext cx="544513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ru-RU" sz="2000" dirty="0"/>
              <a:t>E</a:t>
            </a:r>
            <a:r>
              <a:rPr lang="en-US" altLang="ru-RU" sz="2000" baseline="-25000" dirty="0"/>
              <a:t>2</a:t>
            </a:r>
          </a:p>
        </p:txBody>
      </p:sp>
      <p:sp>
        <p:nvSpPr>
          <p:cNvPr id="6150" name="Text Box 29"/>
          <p:cNvSpPr txBox="1"/>
          <p:nvPr/>
        </p:nvSpPr>
        <p:spPr>
          <a:xfrm>
            <a:off x="247650" y="2427605"/>
            <a:ext cx="5461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ru-RU" sz="2000" dirty="0"/>
              <a:t>E</a:t>
            </a:r>
            <a:r>
              <a:rPr lang="en-US" altLang="ru-RU" sz="2000" baseline="-25000" dirty="0"/>
              <a:t>1</a:t>
            </a:r>
          </a:p>
        </p:txBody>
      </p:sp>
      <p:sp>
        <p:nvSpPr>
          <p:cNvPr id="2078" name="AutoShape 30"/>
          <p:cNvSpPr/>
          <p:nvPr/>
        </p:nvSpPr>
        <p:spPr>
          <a:xfrm>
            <a:off x="1881188" y="1544955"/>
            <a:ext cx="390525" cy="287338"/>
          </a:xfrm>
          <a:prstGeom prst="star16">
            <a:avLst>
              <a:gd name="adj" fmla="val 37500"/>
            </a:avLst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ru-RU" altLang="ru-RU" sz="1800" dirty="0"/>
          </a:p>
        </p:txBody>
      </p:sp>
      <p:sp>
        <p:nvSpPr>
          <p:cNvPr id="2079" name="AutoShape 31"/>
          <p:cNvSpPr/>
          <p:nvPr/>
        </p:nvSpPr>
        <p:spPr>
          <a:xfrm>
            <a:off x="1881188" y="2484755"/>
            <a:ext cx="390525" cy="287338"/>
          </a:xfrm>
          <a:prstGeom prst="star16">
            <a:avLst>
              <a:gd name="adj" fmla="val 37500"/>
            </a:avLst>
          </a:prstGeom>
          <a:solidFill>
            <a:srgbClr val="3366FF"/>
          </a:solidFill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ru-RU" altLang="ru-RU" sz="1800" dirty="0"/>
          </a:p>
        </p:txBody>
      </p:sp>
      <p:sp>
        <p:nvSpPr>
          <p:cNvPr id="2080" name="AutoShape 32"/>
          <p:cNvSpPr/>
          <p:nvPr/>
        </p:nvSpPr>
        <p:spPr>
          <a:xfrm flipV="1">
            <a:off x="1817688" y="1659255"/>
            <a:ext cx="508000" cy="977900"/>
          </a:xfrm>
          <a:prstGeom prst="downArrow">
            <a:avLst>
              <a:gd name="adj1" fmla="val 50000"/>
              <a:gd name="adj2" fmla="val 48125"/>
            </a:avLst>
          </a:prstGeom>
          <a:solidFill>
            <a:schemeClr val="accent1">
              <a:alpha val="67842"/>
            </a:scheme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ru-RU" altLang="ru-RU" sz="1800" dirty="0"/>
          </a:p>
        </p:txBody>
      </p:sp>
      <p:grpSp>
        <p:nvGrpSpPr>
          <p:cNvPr id="2081" name="Group 33"/>
          <p:cNvGrpSpPr/>
          <p:nvPr/>
        </p:nvGrpSpPr>
        <p:grpSpPr>
          <a:xfrm>
            <a:off x="47625" y="2108518"/>
            <a:ext cx="1173163" cy="550862"/>
            <a:chOff x="930" y="1178"/>
            <a:chExt cx="682" cy="347"/>
          </a:xfrm>
        </p:grpSpPr>
        <p:sp>
          <p:nvSpPr>
            <p:cNvPr id="6195" name="Freeform 34"/>
            <p:cNvSpPr/>
            <p:nvPr/>
          </p:nvSpPr>
          <p:spPr>
            <a:xfrm>
              <a:off x="930" y="1185"/>
              <a:ext cx="408" cy="11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37"/>
                </a:cxn>
                <a:cxn ang="0">
                  <a:pos x="4" y="7"/>
                </a:cxn>
                <a:cxn ang="0">
                  <a:pos x="6" y="45"/>
                </a:cxn>
                <a:cxn ang="0">
                  <a:pos x="8" y="7"/>
                </a:cxn>
                <a:cxn ang="0">
                  <a:pos x="8" y="7"/>
                </a:cxn>
              </a:cxnLst>
              <a:rect l="0" t="0" r="0" b="0"/>
              <a:pathLst>
                <a:path w="884" h="136">
                  <a:moveTo>
                    <a:pt x="0" y="0"/>
                  </a:moveTo>
                  <a:cubicBezTo>
                    <a:pt x="54" y="54"/>
                    <a:pt x="109" y="109"/>
                    <a:pt x="181" y="113"/>
                  </a:cubicBezTo>
                  <a:cubicBezTo>
                    <a:pt x="253" y="117"/>
                    <a:pt x="351" y="18"/>
                    <a:pt x="430" y="22"/>
                  </a:cubicBezTo>
                  <a:cubicBezTo>
                    <a:pt x="509" y="26"/>
                    <a:pt x="589" y="136"/>
                    <a:pt x="657" y="136"/>
                  </a:cubicBezTo>
                  <a:cubicBezTo>
                    <a:pt x="725" y="136"/>
                    <a:pt x="801" y="41"/>
                    <a:pt x="839" y="22"/>
                  </a:cubicBezTo>
                  <a:cubicBezTo>
                    <a:pt x="877" y="3"/>
                    <a:pt x="880" y="33"/>
                    <a:pt x="884" y="22"/>
                  </a:cubicBezTo>
                </a:path>
              </a:pathLst>
            </a:custGeom>
            <a:noFill/>
            <a:ln w="28575" cap="flat" cmpd="sng">
              <a:solidFill>
                <a:srgbClr val="66FF33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ru-RU" altLang="en-US"/>
            </a:p>
          </p:txBody>
        </p:sp>
        <p:sp>
          <p:nvSpPr>
            <p:cNvPr id="6196" name="AutoShape 35"/>
            <p:cNvSpPr/>
            <p:nvPr/>
          </p:nvSpPr>
          <p:spPr>
            <a:xfrm>
              <a:off x="1311" y="1178"/>
              <a:ext cx="204" cy="91"/>
            </a:xfrm>
            <a:prstGeom prst="homePlate">
              <a:avLst>
                <a:gd name="adj" fmla="val 56043"/>
              </a:avLst>
            </a:prstGeom>
            <a:solidFill>
              <a:srgbClr val="66FF33">
                <a:alpha val="85097"/>
              </a:srgbClr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ru-RU" altLang="ru-RU" sz="1800" dirty="0"/>
            </a:p>
          </p:txBody>
        </p:sp>
        <p:sp>
          <p:nvSpPr>
            <p:cNvPr id="6197" name="Text Box 36"/>
            <p:cNvSpPr txBox="1"/>
            <p:nvPr/>
          </p:nvSpPr>
          <p:spPr>
            <a:xfrm>
              <a:off x="1338" y="1275"/>
              <a:ext cx="27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ru-RU" sz="2000" b="1" dirty="0">
                  <a:solidFill>
                    <a:srgbClr val="66FF33"/>
                  </a:solidFill>
                </a:rPr>
                <a:t>h</a:t>
              </a:r>
              <a:r>
                <a:rPr lang="en-US" altLang="ru-RU" sz="2000" b="1" dirty="0">
                  <a:solidFill>
                    <a:srgbClr val="66FF33"/>
                  </a:solidFill>
                  <a:latin typeface="Symbol" panose="05050102010706020507" pitchFamily="18" charset="2"/>
                </a:rPr>
                <a:t>n</a:t>
              </a:r>
            </a:p>
          </p:txBody>
        </p:sp>
      </p:grpSp>
      <p:grpSp>
        <p:nvGrpSpPr>
          <p:cNvPr id="2101" name="Group 53"/>
          <p:cNvGrpSpPr/>
          <p:nvPr/>
        </p:nvGrpSpPr>
        <p:grpSpPr>
          <a:xfrm>
            <a:off x="1900238" y="2106930"/>
            <a:ext cx="1173162" cy="550863"/>
            <a:chOff x="2356" y="2273"/>
            <a:chExt cx="682" cy="347"/>
          </a:xfrm>
        </p:grpSpPr>
        <p:sp>
          <p:nvSpPr>
            <p:cNvPr id="6192" name="Freeform 50"/>
            <p:cNvSpPr/>
            <p:nvPr/>
          </p:nvSpPr>
          <p:spPr>
            <a:xfrm>
              <a:off x="2356" y="2280"/>
              <a:ext cx="408" cy="11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37"/>
                </a:cxn>
                <a:cxn ang="0">
                  <a:pos x="4" y="7"/>
                </a:cxn>
                <a:cxn ang="0">
                  <a:pos x="6" y="45"/>
                </a:cxn>
                <a:cxn ang="0">
                  <a:pos x="8" y="7"/>
                </a:cxn>
                <a:cxn ang="0">
                  <a:pos x="8" y="7"/>
                </a:cxn>
              </a:cxnLst>
              <a:rect l="0" t="0" r="0" b="0"/>
              <a:pathLst>
                <a:path w="884" h="136">
                  <a:moveTo>
                    <a:pt x="0" y="0"/>
                  </a:moveTo>
                  <a:cubicBezTo>
                    <a:pt x="54" y="54"/>
                    <a:pt x="109" y="109"/>
                    <a:pt x="181" y="113"/>
                  </a:cubicBezTo>
                  <a:cubicBezTo>
                    <a:pt x="253" y="117"/>
                    <a:pt x="351" y="18"/>
                    <a:pt x="430" y="22"/>
                  </a:cubicBezTo>
                  <a:cubicBezTo>
                    <a:pt x="509" y="26"/>
                    <a:pt x="589" y="136"/>
                    <a:pt x="657" y="136"/>
                  </a:cubicBezTo>
                  <a:cubicBezTo>
                    <a:pt x="725" y="136"/>
                    <a:pt x="801" y="41"/>
                    <a:pt x="839" y="22"/>
                  </a:cubicBezTo>
                  <a:cubicBezTo>
                    <a:pt x="877" y="3"/>
                    <a:pt x="880" y="33"/>
                    <a:pt x="884" y="22"/>
                  </a:cubicBezTo>
                </a:path>
              </a:pathLst>
            </a:custGeom>
            <a:noFill/>
            <a:ln w="28575" cap="flat" cmpd="sng">
              <a:solidFill>
                <a:srgbClr val="CCFFCC">
                  <a:alpha val="65097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ru-RU" altLang="en-US"/>
            </a:p>
          </p:txBody>
        </p:sp>
        <p:sp>
          <p:nvSpPr>
            <p:cNvPr id="6193" name="AutoShape 51"/>
            <p:cNvSpPr/>
            <p:nvPr/>
          </p:nvSpPr>
          <p:spPr>
            <a:xfrm>
              <a:off x="2737" y="2273"/>
              <a:ext cx="204" cy="91"/>
            </a:xfrm>
            <a:prstGeom prst="homePlate">
              <a:avLst>
                <a:gd name="adj" fmla="val 56043"/>
              </a:avLst>
            </a:prstGeom>
            <a:solidFill>
              <a:srgbClr val="CCFFCC">
                <a:alpha val="85097"/>
              </a:srgbClr>
            </a:solidFill>
            <a:ln w="9525" cap="flat" cmpd="sng">
              <a:solidFill>
                <a:srgbClr val="CCFFCC">
                  <a:alpha val="4196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ru-RU" altLang="ru-RU" sz="1800" dirty="0">
                <a:solidFill>
                  <a:srgbClr val="66FF33"/>
                </a:solidFill>
              </a:endParaRPr>
            </a:p>
          </p:txBody>
        </p:sp>
        <p:sp>
          <p:nvSpPr>
            <p:cNvPr id="6194" name="Text Box 52"/>
            <p:cNvSpPr txBox="1"/>
            <p:nvPr/>
          </p:nvSpPr>
          <p:spPr>
            <a:xfrm>
              <a:off x="2764" y="2370"/>
              <a:ext cx="27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ru-RU" sz="2000" b="1" dirty="0">
                  <a:solidFill>
                    <a:srgbClr val="CCFFCC"/>
                  </a:solidFill>
                </a:rPr>
                <a:t>h</a:t>
              </a:r>
              <a:r>
                <a:rPr lang="en-US" altLang="ru-RU" sz="2000" b="1" dirty="0">
                  <a:solidFill>
                    <a:srgbClr val="CCFFCC"/>
                  </a:solidFill>
                  <a:latin typeface="Symbol" panose="05050102010706020507" pitchFamily="18" charset="2"/>
                </a:rPr>
                <a:t>n</a:t>
              </a:r>
            </a:p>
          </p:txBody>
        </p:sp>
      </p:grpSp>
      <p:sp>
        <p:nvSpPr>
          <p:cNvPr id="6" name="Текстовое поле 5"/>
          <p:cNvSpPr txBox="1"/>
          <p:nvPr/>
        </p:nvSpPr>
        <p:spPr>
          <a:xfrm>
            <a:off x="3370383" y="1246421"/>
            <a:ext cx="5543167" cy="107721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/>
            <a:r>
              <a:rPr lang="en-US" altLang="en-US" sz="16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Частота</a:t>
            </a:r>
            <a:r>
              <a:rPr lang="en-US" altLang="ru-RU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Раби</a:t>
            </a:r>
            <a:r>
              <a:rPr lang="en-US" altLang="ru-RU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(Ω)</a:t>
            </a:r>
            <a:r>
              <a:rPr lang="en-US" alt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характеризует</a:t>
            </a:r>
            <a:r>
              <a:rPr lang="en-US" alt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скорость</a:t>
            </a:r>
            <a:r>
              <a:rPr lang="en-US" alt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перехода</a:t>
            </a:r>
            <a:r>
              <a:rPr lang="en-US" alt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осцилляций</a:t>
            </a:r>
            <a:r>
              <a:rPr lang="en-US" alt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между</a:t>
            </a:r>
            <a:r>
              <a:rPr lang="en-US" alt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двумя</a:t>
            </a:r>
            <a:r>
              <a:rPr lang="en-US" alt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квантовыми</a:t>
            </a:r>
            <a:r>
              <a:rPr lang="en-US" alt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уровнями</a:t>
            </a:r>
            <a:r>
              <a:rPr lang="en-US" alt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например</a:t>
            </a:r>
            <a:r>
              <a:rPr lang="en-US" alt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основным</a:t>
            </a:r>
            <a:r>
              <a:rPr lang="en-US" alt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lang="en-US" alt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возбуждённым</a:t>
            </a:r>
            <a:r>
              <a:rPr lang="en-US" alt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состоянием</a:t>
            </a:r>
            <a:r>
              <a:rPr lang="en-US" alt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атома</a:t>
            </a:r>
            <a:r>
              <a:rPr lang="en-US" alt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под</a:t>
            </a:r>
            <a:r>
              <a:rPr lang="en-US" alt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действием</a:t>
            </a:r>
            <a:r>
              <a:rPr lang="en-US" alt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внешнего</a:t>
            </a:r>
            <a:r>
              <a:rPr lang="en-US" alt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электромагнитного</a:t>
            </a:r>
            <a:r>
              <a:rPr lang="en-US" alt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поля</a:t>
            </a:r>
            <a:r>
              <a:rPr lang="en-US" alt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например</a:t>
            </a:r>
            <a:r>
              <a:rPr lang="en-US" alt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лазера</a:t>
            </a:r>
            <a:r>
              <a:rPr lang="en-US" alt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ru-RU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4994EFD4-BB24-478B-AFFB-E63CF1EC05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2852350"/>
              </p:ext>
            </p:extLst>
          </p:nvPr>
        </p:nvGraphicFramePr>
        <p:xfrm>
          <a:off x="1193748" y="3213579"/>
          <a:ext cx="2286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" name="Уравнение" r:id="rId7" imgW="228600" imgH="279360" progId="Equation.KSEE3">
                  <p:embed/>
                </p:oleObj>
              </mc:Choice>
              <mc:Fallback>
                <p:oleObj name="Уравнение" r:id="rId7" imgW="228600" imgH="279360" progId="Equation.KSEE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93748" y="3213579"/>
                        <a:ext cx="2286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86F0208-6C7B-46BE-9FE0-6DEDFAB1691E}"/>
              </a:ext>
            </a:extLst>
          </p:cNvPr>
          <p:cNvSpPr txBox="1"/>
          <p:nvPr/>
        </p:nvSpPr>
        <p:spPr>
          <a:xfrm>
            <a:off x="1580258" y="3250933"/>
            <a:ext cx="26329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/>
              <a:t>Дипольный момент перехода</a:t>
            </a:r>
          </a:p>
        </p:txBody>
      </p:sp>
      <p:graphicFrame>
        <p:nvGraphicFramePr>
          <p:cNvPr id="26" name="Объект 25">
            <a:extLst>
              <a:ext uri="{FF2B5EF4-FFF2-40B4-BE49-F238E27FC236}">
                <a16:creationId xmlns:a16="http://schemas.microsoft.com/office/drawing/2014/main" id="{EF63B4C7-0790-4616-A25E-DAF6F656F3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512553"/>
              </p:ext>
            </p:extLst>
          </p:nvPr>
        </p:nvGraphicFramePr>
        <p:xfrm>
          <a:off x="5097020" y="3219136"/>
          <a:ext cx="2667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" name="Уравнение" r:id="rId9" imgW="266400" imgH="266400" progId="Equation.KSEE3">
                  <p:embed/>
                </p:oleObj>
              </mc:Choice>
              <mc:Fallback>
                <p:oleObj name="Уравнение" r:id="rId9" imgW="266400" imgH="266400" progId="Equation.KSEE3">
                  <p:embed/>
                  <p:pic>
                    <p:nvPicPr>
                      <p:cNvPr id="4" name="Объект 3">
                        <a:extLst>
                          <a:ext uri="{FF2B5EF4-FFF2-40B4-BE49-F238E27FC236}">
                            <a16:creationId xmlns:a16="http://schemas.microsoft.com/office/drawing/2014/main" id="{4994EFD4-BB24-478B-AFFB-E63CF1EC05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097020" y="3219136"/>
                        <a:ext cx="2667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FB835E19-6FFF-411C-A632-7A1B659390EA}"/>
              </a:ext>
            </a:extLst>
          </p:cNvPr>
          <p:cNvSpPr txBox="1"/>
          <p:nvPr/>
        </p:nvSpPr>
        <p:spPr>
          <a:xfrm>
            <a:off x="5313050" y="3252506"/>
            <a:ext cx="27828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/>
              <a:t>Напряженность внешнего поля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7E41F5F-24B2-464F-B45D-A7EDD4CA8214}"/>
              </a:ext>
            </a:extLst>
          </p:cNvPr>
          <p:cNvSpPr/>
          <p:nvPr/>
        </p:nvSpPr>
        <p:spPr>
          <a:xfrm>
            <a:off x="78955" y="3785871"/>
            <a:ext cx="9626705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400" u="sng" dirty="0"/>
              <a:t>Физический смысл</a:t>
            </a:r>
            <a:r>
              <a:rPr lang="en-US" sz="1400" u="sng" dirty="0"/>
              <a:t>:</a:t>
            </a:r>
          </a:p>
          <a:p>
            <a:pPr algn="just"/>
            <a:endParaRPr lang="ru-RU" sz="1400" dirty="0"/>
          </a:p>
          <a:p>
            <a:pPr algn="just"/>
            <a:r>
              <a:rPr lang="ru-RU" sz="1400" dirty="0"/>
              <a:t>Скорость перехода: Чем выше частота </a:t>
            </a:r>
            <a:r>
              <a:rPr lang="ru-RU" sz="1400" dirty="0" err="1"/>
              <a:t>Раби</a:t>
            </a:r>
            <a:r>
              <a:rPr lang="ru-RU" sz="1400" dirty="0"/>
              <a:t>, тем быстрее атом переходит из основного состояния в возбуждённое и обратно.</a:t>
            </a:r>
          </a:p>
          <a:p>
            <a:pPr algn="just"/>
            <a:endParaRPr lang="ru-RU" sz="1400" dirty="0"/>
          </a:p>
          <a:p>
            <a:pPr algn="just"/>
            <a:r>
              <a:rPr lang="ru-RU" sz="1400" dirty="0"/>
              <a:t>Влияние на спектр: Большая частота </a:t>
            </a:r>
            <a:r>
              <a:rPr lang="ru-RU" sz="1400" dirty="0" err="1"/>
              <a:t>Раби</a:t>
            </a:r>
            <a:r>
              <a:rPr lang="ru-RU" sz="1400" dirty="0"/>
              <a:t> приводит к расщеплению спектральных линий — это называется </a:t>
            </a:r>
            <a:r>
              <a:rPr lang="ru-RU" sz="1400" dirty="0" err="1"/>
              <a:t>раби</a:t>
            </a:r>
            <a:r>
              <a:rPr lang="ru-RU" sz="1400" dirty="0"/>
              <a:t>-расщепление, которое наблюдается в условиях мощного резонансного воздействия.</a:t>
            </a:r>
          </a:p>
          <a:p>
            <a:pPr algn="just"/>
            <a:endParaRPr lang="ru-RU" sz="1400" dirty="0"/>
          </a:p>
          <a:p>
            <a:pPr algn="just"/>
            <a:r>
              <a:rPr lang="ru-RU" sz="1400" dirty="0"/>
              <a:t>Ключевая роль в управлении: Частота </a:t>
            </a:r>
            <a:r>
              <a:rPr lang="ru-RU" sz="1400" dirty="0" err="1"/>
              <a:t>Раби</a:t>
            </a:r>
            <a:r>
              <a:rPr lang="ru-RU" sz="1400" dirty="0"/>
              <a:t> — основной параметр для когерентного управления квантовыми состояниями. Например, с её помощью рассчитывают длительность лазерных импульсов, необходимых для создания суперпозиций состояний или полного инвертирования населённостей (π-импульсы).</a:t>
            </a:r>
          </a:p>
          <a:p>
            <a:pPr algn="just"/>
            <a:endParaRPr lang="ru-RU" sz="1400" dirty="0"/>
          </a:p>
          <a:p>
            <a:pPr algn="just"/>
            <a:r>
              <a:rPr lang="ru-RU" sz="1400" dirty="0"/>
              <a:t>Единицы измерения: Как и обычная частота, измеряется в радианах в секунду (рад/с) или просто в Гц.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71 0.00254 L 0.1849 0.0018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0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1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1000"/>
                                        <p:tgtEl>
                                          <p:spTgt spid="2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1000"/>
                                        <p:tgtEl>
                                          <p:spTgt spid="2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5" dur="1000"/>
                                        <p:tgtEl>
                                          <p:spTgt spid="20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" dur="1000"/>
                                        <p:tgtEl>
                                          <p:spTgt spid="20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Line 5"/>
          <p:cNvSpPr/>
          <p:nvPr/>
        </p:nvSpPr>
        <p:spPr>
          <a:xfrm>
            <a:off x="604838" y="1036638"/>
            <a:ext cx="2028825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195" name="Line 6"/>
          <p:cNvSpPr/>
          <p:nvPr/>
        </p:nvSpPr>
        <p:spPr>
          <a:xfrm>
            <a:off x="611188" y="2014538"/>
            <a:ext cx="2028825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196" name="Text Box 7"/>
          <p:cNvSpPr txBox="1"/>
          <p:nvPr/>
        </p:nvSpPr>
        <p:spPr>
          <a:xfrm>
            <a:off x="93663" y="893763"/>
            <a:ext cx="54292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ru-RU" sz="2000" dirty="0"/>
              <a:t>E</a:t>
            </a:r>
            <a:r>
              <a:rPr lang="en-US" altLang="ru-RU" sz="2000" baseline="-25000" dirty="0"/>
              <a:t>2</a:t>
            </a:r>
          </a:p>
        </p:txBody>
      </p:sp>
      <p:sp>
        <p:nvSpPr>
          <p:cNvPr id="8197" name="Text Box 8"/>
          <p:cNvSpPr txBox="1"/>
          <p:nvPr/>
        </p:nvSpPr>
        <p:spPr>
          <a:xfrm>
            <a:off x="96838" y="1757363"/>
            <a:ext cx="54292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ru-RU" sz="2000" dirty="0"/>
              <a:t>E</a:t>
            </a:r>
            <a:r>
              <a:rPr lang="en-US" altLang="ru-RU" sz="2000" baseline="-25000" dirty="0"/>
              <a:t>1</a:t>
            </a:r>
          </a:p>
        </p:txBody>
      </p:sp>
      <p:sp>
        <p:nvSpPr>
          <p:cNvPr id="9" name="AutoShape 12"/>
          <p:cNvSpPr/>
          <p:nvPr/>
        </p:nvSpPr>
        <p:spPr>
          <a:xfrm>
            <a:off x="1731963" y="892175"/>
            <a:ext cx="390525" cy="287338"/>
          </a:xfrm>
          <a:prstGeom prst="star16">
            <a:avLst>
              <a:gd name="adj" fmla="val 37500"/>
            </a:avLst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ru-RU" altLang="ru-RU" sz="1800" dirty="0"/>
          </a:p>
        </p:txBody>
      </p:sp>
      <p:sp>
        <p:nvSpPr>
          <p:cNvPr id="10" name="AutoShape 13"/>
          <p:cNvSpPr/>
          <p:nvPr/>
        </p:nvSpPr>
        <p:spPr>
          <a:xfrm>
            <a:off x="1731963" y="1881188"/>
            <a:ext cx="390525" cy="287337"/>
          </a:xfrm>
          <a:prstGeom prst="star16">
            <a:avLst>
              <a:gd name="adj" fmla="val 37500"/>
            </a:avLst>
          </a:prstGeom>
          <a:solidFill>
            <a:srgbClr val="3366FF"/>
          </a:solidFill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ru-RU" altLang="ru-RU" sz="1800" dirty="0"/>
          </a:p>
        </p:txBody>
      </p:sp>
      <p:sp>
        <p:nvSpPr>
          <p:cNvPr id="11" name="AutoShape 11"/>
          <p:cNvSpPr/>
          <p:nvPr/>
        </p:nvSpPr>
        <p:spPr>
          <a:xfrm>
            <a:off x="1655763" y="1038225"/>
            <a:ext cx="504825" cy="963613"/>
          </a:xfrm>
          <a:prstGeom prst="downArrow">
            <a:avLst>
              <a:gd name="adj1" fmla="val 50000"/>
              <a:gd name="adj2" fmla="val 47720"/>
            </a:avLst>
          </a:prstGeom>
          <a:solidFill>
            <a:schemeClr val="accent1">
              <a:alpha val="67842"/>
            </a:scheme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ru-RU" altLang="ru-RU" sz="1800" dirty="0"/>
          </a:p>
        </p:txBody>
      </p:sp>
      <p:grpSp>
        <p:nvGrpSpPr>
          <p:cNvPr id="12" name="Group 24"/>
          <p:cNvGrpSpPr/>
          <p:nvPr/>
        </p:nvGrpSpPr>
        <p:grpSpPr>
          <a:xfrm>
            <a:off x="1652588" y="1401763"/>
            <a:ext cx="1171575" cy="550862"/>
            <a:chOff x="930" y="1178"/>
            <a:chExt cx="682" cy="347"/>
          </a:xfrm>
        </p:grpSpPr>
        <p:sp>
          <p:nvSpPr>
            <p:cNvPr id="8210" name="Freeform 17"/>
            <p:cNvSpPr/>
            <p:nvPr/>
          </p:nvSpPr>
          <p:spPr>
            <a:xfrm>
              <a:off x="930" y="1185"/>
              <a:ext cx="408" cy="11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37"/>
                </a:cxn>
                <a:cxn ang="0">
                  <a:pos x="4" y="7"/>
                </a:cxn>
                <a:cxn ang="0">
                  <a:pos x="6" y="45"/>
                </a:cxn>
                <a:cxn ang="0">
                  <a:pos x="8" y="7"/>
                </a:cxn>
                <a:cxn ang="0">
                  <a:pos x="8" y="7"/>
                </a:cxn>
              </a:cxnLst>
              <a:rect l="0" t="0" r="0" b="0"/>
              <a:pathLst>
                <a:path w="884" h="136">
                  <a:moveTo>
                    <a:pt x="0" y="0"/>
                  </a:moveTo>
                  <a:cubicBezTo>
                    <a:pt x="54" y="54"/>
                    <a:pt x="109" y="109"/>
                    <a:pt x="181" y="113"/>
                  </a:cubicBezTo>
                  <a:cubicBezTo>
                    <a:pt x="253" y="117"/>
                    <a:pt x="351" y="18"/>
                    <a:pt x="430" y="22"/>
                  </a:cubicBezTo>
                  <a:cubicBezTo>
                    <a:pt x="509" y="26"/>
                    <a:pt x="589" y="136"/>
                    <a:pt x="657" y="136"/>
                  </a:cubicBezTo>
                  <a:cubicBezTo>
                    <a:pt x="725" y="136"/>
                    <a:pt x="801" y="41"/>
                    <a:pt x="839" y="22"/>
                  </a:cubicBezTo>
                  <a:cubicBezTo>
                    <a:pt x="877" y="3"/>
                    <a:pt x="880" y="33"/>
                    <a:pt x="884" y="22"/>
                  </a:cubicBezTo>
                </a:path>
              </a:pathLst>
            </a:custGeom>
            <a:noFill/>
            <a:ln w="28575" cap="flat" cmpd="sng">
              <a:solidFill>
                <a:srgbClr val="66FF33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ru-RU" altLang="en-US"/>
            </a:p>
          </p:txBody>
        </p:sp>
        <p:sp>
          <p:nvSpPr>
            <p:cNvPr id="8211" name="AutoShape 21"/>
            <p:cNvSpPr/>
            <p:nvPr/>
          </p:nvSpPr>
          <p:spPr>
            <a:xfrm>
              <a:off x="1311" y="1178"/>
              <a:ext cx="204" cy="91"/>
            </a:xfrm>
            <a:prstGeom prst="homePlate">
              <a:avLst>
                <a:gd name="adj" fmla="val 56043"/>
              </a:avLst>
            </a:prstGeom>
            <a:solidFill>
              <a:srgbClr val="66FF33">
                <a:alpha val="85097"/>
              </a:srgbClr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ru-RU" altLang="ru-RU" sz="1800" dirty="0"/>
            </a:p>
          </p:txBody>
        </p:sp>
        <p:sp>
          <p:nvSpPr>
            <p:cNvPr id="8212" name="Text Box 22"/>
            <p:cNvSpPr txBox="1"/>
            <p:nvPr/>
          </p:nvSpPr>
          <p:spPr>
            <a:xfrm>
              <a:off x="1338" y="1275"/>
              <a:ext cx="27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ru-RU" sz="2000" b="1" dirty="0">
                  <a:solidFill>
                    <a:srgbClr val="66FF33"/>
                  </a:solidFill>
                </a:rPr>
                <a:t>h</a:t>
              </a:r>
              <a:r>
                <a:rPr lang="en-US" altLang="ru-RU" sz="2000" b="1" dirty="0">
                  <a:solidFill>
                    <a:srgbClr val="66FF33"/>
                  </a:solidFill>
                  <a:latin typeface="Symbol" panose="05050102010706020507" pitchFamily="18" charset="2"/>
                </a:rPr>
                <a:t>n</a:t>
              </a:r>
            </a:p>
          </p:txBody>
        </p:sp>
      </p:grpSp>
      <p:grpSp>
        <p:nvGrpSpPr>
          <p:cNvPr id="8202" name="Group 150"/>
          <p:cNvGrpSpPr/>
          <p:nvPr/>
        </p:nvGrpSpPr>
        <p:grpSpPr>
          <a:xfrm>
            <a:off x="3951288" y="836613"/>
            <a:ext cx="2003425" cy="1082675"/>
            <a:chOff x="2446" y="718"/>
            <a:chExt cx="1164" cy="682"/>
          </a:xfrm>
        </p:grpSpPr>
        <p:graphicFrame>
          <p:nvGraphicFramePr>
            <p:cNvPr id="8208" name="Object 93"/>
            <p:cNvGraphicFramePr>
              <a:graphicFrameLocks noChangeAspect="1"/>
            </p:cNvGraphicFramePr>
            <p:nvPr/>
          </p:nvGraphicFramePr>
          <p:xfrm>
            <a:off x="2446" y="718"/>
            <a:ext cx="1164" cy="3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5" r:id="rId3" imgW="736600" imgH="228600" progId="Equation.3">
                    <p:embed/>
                  </p:oleObj>
                </mc:Choice>
                <mc:Fallback>
                  <p:oleObj r:id="rId3" imgW="736600" imgH="228600" progId="Equation.3">
                    <p:embed/>
                    <p:pic>
                      <p:nvPicPr>
                        <p:cNvPr id="0" name="Изображение 3081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446" y="718"/>
                          <a:ext cx="1164" cy="35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09" name="Object 116"/>
            <p:cNvGraphicFramePr>
              <a:graphicFrameLocks noChangeAspect="1"/>
            </p:cNvGraphicFramePr>
            <p:nvPr/>
          </p:nvGraphicFramePr>
          <p:xfrm>
            <a:off x="2446" y="1058"/>
            <a:ext cx="979" cy="3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6" r:id="rId5" imgW="647700" imgH="228600" progId="Equation.3">
                    <p:embed/>
                  </p:oleObj>
                </mc:Choice>
                <mc:Fallback>
                  <p:oleObj r:id="rId5" imgW="647700" imgH="228600" progId="Equation.3">
                    <p:embed/>
                    <p:pic>
                      <p:nvPicPr>
                        <p:cNvPr id="0" name="Изображение 3082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446" y="1058"/>
                          <a:ext cx="979" cy="34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203" name="TextBox 21"/>
          <p:cNvSpPr txBox="1"/>
          <p:nvPr/>
        </p:nvSpPr>
        <p:spPr>
          <a:xfrm>
            <a:off x="2720975" y="-4762"/>
            <a:ext cx="3883025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ru-RU" altLang="ru-RU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Спонтанный переход</a:t>
            </a:r>
            <a:endParaRPr lang="ru-RU" altLang="ru-RU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204" name="TextBox 23"/>
          <p:cNvSpPr txBox="1"/>
          <p:nvPr/>
        </p:nvSpPr>
        <p:spPr>
          <a:xfrm>
            <a:off x="55563" y="4803775"/>
            <a:ext cx="9432925" cy="2032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AutoNum type="arabicPeriod"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Спонтанное излучение чисто квантовый эффект не допускающий классической трактовки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1" hangingPunct="1">
              <a:spcBef>
                <a:spcPct val="0"/>
              </a:spcBef>
              <a:buAutoNum type="arabicPeriod"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Вероятность спонтанного перехода не зависит от внешнего поля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1" hangingPunct="1">
              <a:spcBef>
                <a:spcPct val="0"/>
              </a:spcBef>
              <a:buAutoNum type="arabicPeriod"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Спонтанное излучение некогерентно по отношению к внешнему полю и играет роль шумов по отношению к нему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Приводит к дополнительному сбросу инверсии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1" hangingPunct="1">
              <a:spcBef>
                <a:spcPct val="0"/>
              </a:spcBef>
              <a:buAutoNum type="arabicPeriod"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Самопроизвольных переходов из нижнего состояния в верхнее не бывает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1" hangingPunct="1">
              <a:spcBef>
                <a:spcPct val="0"/>
              </a:spcBef>
              <a:buAutoNum type="arabicPeriod"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Скорость спонтанных переходов от времени не зависит и является постоянной величиной для рассматриваемой системы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altLang="ru-RU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205" name="Прямоугольник 24"/>
          <p:cNvSpPr/>
          <p:nvPr/>
        </p:nvSpPr>
        <p:spPr>
          <a:xfrm>
            <a:off x="55563" y="3297238"/>
            <a:ext cx="9120187" cy="1201737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Причиной спонтанного излучения является взаимодействие атома с нулевыми колебаниями электромагнитного поля в вакууме. Состояния атома перестают быть стационарными в результате воздействия составляющей нулевых колебаний с частотой, равной частоте испускаемого кванта.</a:t>
            </a:r>
            <a:endParaRPr lang="ru-RU" altLang="ru-RU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206" name="Прямоугольник 26"/>
          <p:cNvSpPr/>
          <p:nvPr/>
        </p:nvSpPr>
        <p:spPr>
          <a:xfrm>
            <a:off x="69850" y="2278063"/>
            <a:ext cx="9236075" cy="923925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Спонтанное излучение, или спонтанное испускание, </a:t>
            </a:r>
            <a:r>
              <a:rPr lang="ru-RU" alt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—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процесс самопроизвольного испускания электромагнитного излучения квантовыми системами (атомами, молекулами) при их переходе из возбуждённого состояния в стабильное.</a:t>
            </a:r>
            <a:endParaRPr lang="ru-RU" altLang="ru-RU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207" name="TextBox 27"/>
          <p:cNvSpPr txBox="1"/>
          <p:nvPr/>
        </p:nvSpPr>
        <p:spPr>
          <a:xfrm>
            <a:off x="-26987" y="4498975"/>
            <a:ext cx="1263650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ru-RU" altLang="ru-RU" sz="1800" u="sng" dirty="0">
                <a:solidFill>
                  <a:srgbClr val="FF0000"/>
                </a:solidFill>
              </a:rPr>
              <a:t>Свойства</a:t>
            </a:r>
            <a:r>
              <a:rPr lang="en-US" altLang="ru-RU" sz="1800" u="sng" dirty="0">
                <a:solidFill>
                  <a:srgbClr val="FF0000"/>
                </a:solidFill>
              </a:rPr>
              <a:t>:</a:t>
            </a:r>
            <a:endParaRPr lang="ru-RU" altLang="ru-RU" sz="1800" u="sng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3.7037E-6 L 0.11806 3.7037E-6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/>
          </p:cNvSpPr>
          <p:nvPr>
            <p:ph type="title"/>
          </p:nvPr>
        </p:nvSpPr>
        <p:spPr>
          <a:xfrm>
            <a:off x="533400" y="-19050"/>
            <a:ext cx="8915400" cy="866775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>
              <a:lnSpc>
                <a:spcPct val="70000"/>
              </a:lnSpc>
            </a:pPr>
            <a:r>
              <a:rPr lang="ru-RU" altLang="ja-JP" sz="3200" b="1" dirty="0">
                <a:solidFill>
                  <a:srgbClr val="3366FF"/>
                </a:solidFill>
                <a:latin typeface="Times New Roman" panose="02020603050405020304" pitchFamily="18" charset="0"/>
              </a:rPr>
              <a:t>Соотношения между коэффициентами Эйнштейна</a:t>
            </a:r>
            <a:endParaRPr lang="en-US" altLang="ru-RU" sz="4000" dirty="0"/>
          </a:p>
        </p:txBody>
      </p:sp>
      <p:sp>
        <p:nvSpPr>
          <p:cNvPr id="9219" name="Rectangle 69"/>
          <p:cNvSpPr/>
          <p:nvPr/>
        </p:nvSpPr>
        <p:spPr>
          <a:xfrm>
            <a:off x="0" y="3195638"/>
            <a:ext cx="9906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ru-RU" altLang="ru-RU" sz="1800" dirty="0"/>
          </a:p>
        </p:txBody>
      </p:sp>
      <p:graphicFrame>
        <p:nvGraphicFramePr>
          <p:cNvPr id="9220" name="Object 68"/>
          <p:cNvGraphicFramePr>
            <a:graphicFrameLocks noChangeAspect="1"/>
          </p:cNvGraphicFramePr>
          <p:nvPr/>
        </p:nvGraphicFramePr>
        <p:xfrm>
          <a:off x="234950" y="1935163"/>
          <a:ext cx="3994150" cy="108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9" r:id="rId3" imgW="1574800" imgH="469900" progId="Equation.3">
                  <p:embed/>
                </p:oleObj>
              </mc:Choice>
              <mc:Fallback>
                <p:oleObj r:id="rId3" imgW="1574800" imgH="469900" progId="Equation.3">
                  <p:embed/>
                  <p:pic>
                    <p:nvPicPr>
                      <p:cNvPr id="0" name="Изображение 309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4950" y="1935163"/>
                        <a:ext cx="3994150" cy="1089025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1" name="Text Box 70"/>
          <p:cNvSpPr txBox="1"/>
          <p:nvPr/>
        </p:nvSpPr>
        <p:spPr>
          <a:xfrm>
            <a:off x="128588" y="1417638"/>
            <a:ext cx="39782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ru-RU" altLang="ru-RU" sz="2000" dirty="0"/>
              <a:t>Распределение Больцмана: </a:t>
            </a:r>
            <a:endParaRPr lang="en-US" altLang="ru-RU" sz="2000" dirty="0"/>
          </a:p>
        </p:txBody>
      </p:sp>
      <p:sp>
        <p:nvSpPr>
          <p:cNvPr id="9222" name="Text Box 71"/>
          <p:cNvSpPr txBox="1"/>
          <p:nvPr/>
        </p:nvSpPr>
        <p:spPr>
          <a:xfrm>
            <a:off x="17463" y="6465888"/>
            <a:ext cx="9852025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ru-RU" sz="1800" b="1" dirty="0">
                <a:latin typeface="Times New Roman" panose="02020603050405020304" pitchFamily="18" charset="0"/>
              </a:rPr>
              <a:t>n</a:t>
            </a:r>
            <a:r>
              <a:rPr lang="en-US" altLang="ru-RU" sz="1800" b="1" baseline="-25000" dirty="0">
                <a:latin typeface="Times New Roman" panose="02020603050405020304" pitchFamily="18" charset="0"/>
              </a:rPr>
              <a:t>i</a:t>
            </a:r>
            <a:r>
              <a:rPr lang="en-US" altLang="ru-RU" sz="1800" b="1" dirty="0">
                <a:latin typeface="Times New Roman" panose="02020603050405020304" pitchFamily="18" charset="0"/>
              </a:rPr>
              <a:t> – </a:t>
            </a:r>
            <a:r>
              <a:rPr lang="ru-RU" altLang="ru-RU" sz="1800" b="1" dirty="0">
                <a:latin typeface="Times New Roman" panose="02020603050405020304" pitchFamily="18" charset="0"/>
              </a:rPr>
              <a:t>концентрация частиц на </a:t>
            </a:r>
            <a:r>
              <a:rPr lang="en-US" altLang="ru-RU" sz="1800" b="1" dirty="0">
                <a:latin typeface="Times New Roman" panose="02020603050405020304" pitchFamily="18" charset="0"/>
              </a:rPr>
              <a:t>i-</a:t>
            </a:r>
            <a:r>
              <a:rPr lang="ru-RU" altLang="ru-RU" sz="1800" b="1" dirty="0">
                <a:latin typeface="Times New Roman" panose="02020603050405020304" pitchFamily="18" charset="0"/>
              </a:rPr>
              <a:t>ом уровне; </a:t>
            </a:r>
            <a:r>
              <a:rPr lang="en-US" altLang="ru-RU" sz="1800" b="1" dirty="0">
                <a:latin typeface="Times New Roman" panose="02020603050405020304" pitchFamily="18" charset="0"/>
              </a:rPr>
              <a:t>[</a:t>
            </a:r>
            <a:r>
              <a:rPr lang="ru-RU" altLang="ru-RU" sz="1800" b="1" dirty="0">
                <a:latin typeface="Times New Roman" panose="02020603050405020304" pitchFamily="18" charset="0"/>
              </a:rPr>
              <a:t>см</a:t>
            </a:r>
            <a:r>
              <a:rPr lang="ru-RU" altLang="ru-RU" sz="1800" b="1" baseline="30000" dirty="0">
                <a:latin typeface="Times New Roman" panose="02020603050405020304" pitchFamily="18" charset="0"/>
              </a:rPr>
              <a:t>-3</a:t>
            </a:r>
            <a:r>
              <a:rPr lang="en-US" altLang="ru-RU" sz="1800" b="1" dirty="0">
                <a:latin typeface="Times New Roman" panose="02020603050405020304" pitchFamily="18" charset="0"/>
              </a:rPr>
              <a:t>]</a:t>
            </a:r>
            <a:r>
              <a:rPr lang="ru-RU" altLang="ru-RU" sz="1800" b="1" dirty="0">
                <a:latin typeface="Times New Roman" panose="02020603050405020304" pitchFamily="18" charset="0"/>
              </a:rPr>
              <a:t>        </a:t>
            </a:r>
            <a:r>
              <a:rPr lang="en-US" altLang="ru-RU" sz="1800" b="1" dirty="0">
                <a:latin typeface="Times New Roman" panose="02020603050405020304" pitchFamily="18" charset="0"/>
              </a:rPr>
              <a:t>g</a:t>
            </a:r>
            <a:r>
              <a:rPr lang="en-US" altLang="ru-RU" sz="1800" b="1" baseline="-25000" dirty="0">
                <a:latin typeface="Times New Roman" panose="02020603050405020304" pitchFamily="18" charset="0"/>
              </a:rPr>
              <a:t>i</a:t>
            </a:r>
            <a:r>
              <a:rPr lang="en-US" altLang="ru-RU" sz="1800" b="1" dirty="0">
                <a:latin typeface="Times New Roman" panose="02020603050405020304" pitchFamily="18" charset="0"/>
              </a:rPr>
              <a:t> – </a:t>
            </a:r>
            <a:r>
              <a:rPr lang="ru-RU" altLang="ru-RU" sz="1800" b="1" dirty="0">
                <a:latin typeface="Times New Roman" panose="02020603050405020304" pitchFamily="18" charset="0"/>
              </a:rPr>
              <a:t>вырождение </a:t>
            </a:r>
            <a:r>
              <a:rPr lang="en-US" altLang="ru-RU" sz="1800" b="1" dirty="0">
                <a:latin typeface="Times New Roman" panose="02020603050405020304" pitchFamily="18" charset="0"/>
              </a:rPr>
              <a:t>i-</a:t>
            </a:r>
            <a:r>
              <a:rPr lang="ru-RU" altLang="ru-RU" sz="1800" b="1" dirty="0">
                <a:latin typeface="Times New Roman" panose="02020603050405020304" pitchFamily="18" charset="0"/>
              </a:rPr>
              <a:t>ого уровня</a:t>
            </a:r>
            <a:endParaRPr lang="en-US" altLang="ru-RU" sz="1800" b="1" dirty="0">
              <a:latin typeface="Times New Roman" panose="02020603050405020304" pitchFamily="18" charset="0"/>
            </a:endParaRPr>
          </a:p>
        </p:txBody>
      </p:sp>
      <p:sp>
        <p:nvSpPr>
          <p:cNvPr id="9223" name="Rectangle 73"/>
          <p:cNvSpPr/>
          <p:nvPr/>
        </p:nvSpPr>
        <p:spPr>
          <a:xfrm>
            <a:off x="0" y="3314700"/>
            <a:ext cx="9906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ru-RU" altLang="ru-RU" sz="1800" dirty="0"/>
          </a:p>
        </p:txBody>
      </p:sp>
      <p:graphicFrame>
        <p:nvGraphicFramePr>
          <p:cNvPr id="9224" name="Object 72"/>
          <p:cNvGraphicFramePr>
            <a:graphicFrameLocks noChangeAspect="1"/>
          </p:cNvGraphicFramePr>
          <p:nvPr/>
        </p:nvGraphicFramePr>
        <p:xfrm>
          <a:off x="5043488" y="2417763"/>
          <a:ext cx="4208462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0" r:id="rId5" imgW="1562100" imgH="228600" progId="Equation.3">
                  <p:embed/>
                </p:oleObj>
              </mc:Choice>
              <mc:Fallback>
                <p:oleObj r:id="rId5" imgW="1562100" imgH="228600" progId="Equation.3">
                  <p:embed/>
                  <p:pic>
                    <p:nvPicPr>
                      <p:cNvPr id="0" name="Изображение 309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43488" y="2417763"/>
                        <a:ext cx="4208462" cy="615950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5" name="Text Box 74"/>
          <p:cNvSpPr txBox="1"/>
          <p:nvPr/>
        </p:nvSpPr>
        <p:spPr>
          <a:xfrm>
            <a:off x="4953000" y="1360488"/>
            <a:ext cx="4672013" cy="1016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ru-RU" altLang="ru-RU" sz="2000" dirty="0"/>
              <a:t>Условие термодинамического равновесия (равенство числа переходов):</a:t>
            </a:r>
            <a:endParaRPr lang="en-US" altLang="ru-RU" sz="2000" dirty="0"/>
          </a:p>
        </p:txBody>
      </p:sp>
      <p:sp>
        <p:nvSpPr>
          <p:cNvPr id="9226" name="Rectangle 76"/>
          <p:cNvSpPr/>
          <p:nvPr/>
        </p:nvSpPr>
        <p:spPr>
          <a:xfrm>
            <a:off x="0" y="3195638"/>
            <a:ext cx="9906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ru-RU" altLang="ru-RU" sz="1800" dirty="0"/>
          </a:p>
        </p:txBody>
      </p:sp>
      <p:graphicFrame>
        <p:nvGraphicFramePr>
          <p:cNvPr id="9227" name="Object 75"/>
          <p:cNvGraphicFramePr>
            <a:graphicFrameLocks noChangeAspect="1"/>
          </p:cNvGraphicFramePr>
          <p:nvPr/>
        </p:nvGraphicFramePr>
        <p:xfrm>
          <a:off x="2763838" y="3765550"/>
          <a:ext cx="4383087" cy="103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1" r:id="rId7" imgW="1765300" imgH="457200" progId="Equation.3">
                  <p:embed/>
                </p:oleObj>
              </mc:Choice>
              <mc:Fallback>
                <p:oleObj r:id="rId7" imgW="1765300" imgH="457200" progId="Equation.3">
                  <p:embed/>
                  <p:pic>
                    <p:nvPicPr>
                      <p:cNvPr id="0" name="Изображение 309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63838" y="3765550"/>
                        <a:ext cx="4383087" cy="1036638"/>
                      </a:xfrm>
                      <a:prstGeom prst="rect">
                        <a:avLst/>
                      </a:prstGeom>
                      <a:noFill/>
                      <a:ln w="25400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8" name="AutoShape 77"/>
          <p:cNvSpPr/>
          <p:nvPr/>
        </p:nvSpPr>
        <p:spPr>
          <a:xfrm>
            <a:off x="3152775" y="3074988"/>
            <a:ext cx="3043238" cy="647700"/>
          </a:xfrm>
          <a:prstGeom prst="down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FFFF99"/>
              </a:gs>
              <a:gs pos="100000">
                <a:srgbClr val="767647"/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ru-RU" altLang="ru-RU" sz="1800" dirty="0"/>
          </a:p>
        </p:txBody>
      </p:sp>
      <p:graphicFrame>
        <p:nvGraphicFramePr>
          <p:cNvPr id="9229" name="Object 79"/>
          <p:cNvGraphicFramePr>
            <a:graphicFrameLocks noChangeAspect="1"/>
          </p:cNvGraphicFramePr>
          <p:nvPr/>
        </p:nvGraphicFramePr>
        <p:xfrm>
          <a:off x="3254375" y="5113338"/>
          <a:ext cx="1909763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2" r:id="rId9" imgW="812165" imgH="228600" progId="Equation.3">
                  <p:embed/>
                </p:oleObj>
              </mc:Choice>
              <mc:Fallback>
                <p:oleObj r:id="rId9" imgW="812165" imgH="228600" progId="Equation.3">
                  <p:embed/>
                  <p:pic>
                    <p:nvPicPr>
                      <p:cNvPr id="0" name="Изображение 309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254375" y="5113338"/>
                        <a:ext cx="1909763" cy="493712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0" name="Object 78"/>
          <p:cNvGraphicFramePr>
            <a:graphicFrameLocks noChangeAspect="1"/>
          </p:cNvGraphicFramePr>
          <p:nvPr/>
        </p:nvGraphicFramePr>
        <p:xfrm>
          <a:off x="2347913" y="5148263"/>
          <a:ext cx="576262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3" r:id="rId11" imgW="190500" imgH="152400" progId="Equation.3">
                  <p:embed/>
                </p:oleObj>
              </mc:Choice>
              <mc:Fallback>
                <p:oleObj r:id="rId11" imgW="190500" imgH="152400" progId="Equation.3">
                  <p:embed/>
                  <p:pic>
                    <p:nvPicPr>
                      <p:cNvPr id="0" name="Изображение 309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347913" y="5148263"/>
                        <a:ext cx="576262" cy="460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1" name="Text Box 88"/>
          <p:cNvSpPr txBox="1"/>
          <p:nvPr/>
        </p:nvSpPr>
        <p:spPr>
          <a:xfrm>
            <a:off x="260350" y="5137150"/>
            <a:ext cx="5461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ru-RU" altLang="ru-RU" sz="2400" dirty="0"/>
              <a:t>1)</a:t>
            </a:r>
            <a:r>
              <a:rPr lang="ru-RU" altLang="ru-RU" sz="1800" dirty="0">
                <a:latin typeface="Symbol" panose="05050102010706020507" pitchFamily="18" charset="2"/>
              </a:rPr>
              <a:t> </a:t>
            </a:r>
            <a:endParaRPr lang="en-US" altLang="ru-RU" sz="1800" dirty="0"/>
          </a:p>
        </p:txBody>
      </p:sp>
      <p:graphicFrame>
        <p:nvGraphicFramePr>
          <p:cNvPr id="9232" name="Object 89"/>
          <p:cNvGraphicFramePr>
            <a:graphicFrameLocks noGrp="1" noChangeAspect="1"/>
          </p:cNvGraphicFramePr>
          <p:nvPr>
            <p:ph idx="1"/>
          </p:nvPr>
        </p:nvGraphicFramePr>
        <p:xfrm>
          <a:off x="915988" y="5143500"/>
          <a:ext cx="1179512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4" r:id="rId13" imgW="469900" imgH="177800" progId="Equation.3">
                  <p:embed/>
                </p:oleObj>
              </mc:Choice>
              <mc:Fallback>
                <p:oleObj r:id="rId13" imgW="469900" imgH="177800" progId="Equation.3">
                  <p:embed/>
                  <p:pic>
                    <p:nvPicPr>
                      <p:cNvPr id="0" name="Изображение 3093"/>
                      <p:cNvPicPr/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>
                      <a:xfrm>
                        <a:off x="915988" y="5143500"/>
                        <a:ext cx="1179512" cy="446088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3" name="Rectangle 93"/>
          <p:cNvSpPr/>
          <p:nvPr/>
        </p:nvSpPr>
        <p:spPr>
          <a:xfrm>
            <a:off x="0" y="3314700"/>
            <a:ext cx="9906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ru-RU" altLang="ru-RU" sz="1800" dirty="0"/>
          </a:p>
        </p:txBody>
      </p:sp>
      <p:graphicFrame>
        <p:nvGraphicFramePr>
          <p:cNvPr id="9234" name="Object 92"/>
          <p:cNvGraphicFramePr>
            <a:graphicFrameLocks noChangeAspect="1"/>
          </p:cNvGraphicFramePr>
          <p:nvPr/>
        </p:nvGraphicFramePr>
        <p:xfrm>
          <a:off x="6638925" y="4943475"/>
          <a:ext cx="2967038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5" r:id="rId15" imgW="837565" imgH="215900" progId="Equation.3">
                  <p:embed/>
                </p:oleObj>
              </mc:Choice>
              <mc:Fallback>
                <p:oleObj r:id="rId15" imgW="837565" imgH="215900" progId="Equation.3">
                  <p:embed/>
                  <p:pic>
                    <p:nvPicPr>
                      <p:cNvPr id="0" name="Изображение 3095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638925" y="4943475"/>
                        <a:ext cx="2967038" cy="709613"/>
                      </a:xfrm>
                      <a:prstGeom prst="rect">
                        <a:avLst/>
                      </a:prstGeom>
                      <a:noFill/>
                      <a:ln w="25400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5" name="TextBox 1"/>
          <p:cNvSpPr txBox="1"/>
          <p:nvPr/>
        </p:nvSpPr>
        <p:spPr>
          <a:xfrm>
            <a:off x="212725" y="5737225"/>
            <a:ext cx="9434513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spcBef>
                <a:spcPct val="0"/>
              </a:spcBef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Равная вероятность индуцированных излучения или поглощения в пересчёте на одно невырожденное состояние</a:t>
            </a:r>
            <a:endParaRPr lang="ru-RU" altLang="ru-RU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236" name="TextBox 1"/>
          <p:cNvSpPr txBox="1"/>
          <p:nvPr/>
        </p:nvSpPr>
        <p:spPr>
          <a:xfrm>
            <a:off x="128588" y="758825"/>
            <a:ext cx="9420225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ru-RU" altLang="x-none" dirty="0">
                <a:latin typeface="Arial" panose="020B0604020202020204" pitchFamily="34" charset="0"/>
              </a:rPr>
              <a:t>Рассматриваем ансамбль двухуровневых частиц в термостате при температуре Т в поле его собственного излучения. Внешнего к системе поля</a:t>
            </a:r>
            <a:r>
              <a:rPr dirty="0">
                <a:latin typeface="Arial" panose="020B0604020202020204" pitchFamily="34" charset="0"/>
              </a:rPr>
              <a:t> </a:t>
            </a:r>
            <a:r>
              <a:rPr lang="ru-RU" altLang="x-none" dirty="0">
                <a:latin typeface="Arial" panose="020B0604020202020204" pitchFamily="34" charset="0"/>
              </a:rPr>
              <a:t>нет.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/>
          </p:cNvSpPr>
          <p:nvPr>
            <p:ph type="title"/>
          </p:nvPr>
        </p:nvSpPr>
        <p:spPr>
          <a:xfrm>
            <a:off x="542925" y="50800"/>
            <a:ext cx="8915400" cy="955675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>
              <a:lnSpc>
                <a:spcPct val="70000"/>
              </a:lnSpc>
            </a:pPr>
            <a:r>
              <a:rPr lang="ru-RU" altLang="ja-JP" sz="3200" b="1" dirty="0">
                <a:solidFill>
                  <a:srgbClr val="3366FF"/>
                </a:solidFill>
                <a:latin typeface="Times New Roman" panose="02020603050405020304" pitchFamily="18" charset="0"/>
              </a:rPr>
              <a:t>Соотношения между коэффициентами Эйнштейна</a:t>
            </a:r>
            <a:endParaRPr lang="en-US" altLang="ru-RU" sz="4000" dirty="0"/>
          </a:p>
        </p:txBody>
      </p:sp>
      <p:sp>
        <p:nvSpPr>
          <p:cNvPr id="10243" name="Rectangle 3"/>
          <p:cNvSpPr/>
          <p:nvPr/>
        </p:nvSpPr>
        <p:spPr>
          <a:xfrm>
            <a:off x="0" y="3195638"/>
            <a:ext cx="9906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ru-RU" altLang="ru-RU" sz="1800" dirty="0"/>
          </a:p>
        </p:txBody>
      </p:sp>
      <p:graphicFrame>
        <p:nvGraphicFramePr>
          <p:cNvPr id="10244" name="Object 4"/>
          <p:cNvGraphicFramePr>
            <a:graphicFrameLocks noChangeAspect="1"/>
          </p:cNvGraphicFramePr>
          <p:nvPr/>
        </p:nvGraphicFramePr>
        <p:xfrm>
          <a:off x="128588" y="1503363"/>
          <a:ext cx="3994150" cy="108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1" r:id="rId3" imgW="1574800" imgH="469900" progId="Equation.3">
                  <p:embed/>
                </p:oleObj>
              </mc:Choice>
              <mc:Fallback>
                <p:oleObj r:id="rId3" imgW="1574800" imgH="469900" progId="Equation.3">
                  <p:embed/>
                  <p:pic>
                    <p:nvPicPr>
                      <p:cNvPr id="0" name="Изображение 309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8588" y="1503363"/>
                        <a:ext cx="3994150" cy="1089025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5" name="Text Box 5"/>
          <p:cNvSpPr txBox="1"/>
          <p:nvPr/>
        </p:nvSpPr>
        <p:spPr>
          <a:xfrm>
            <a:off x="447675" y="963613"/>
            <a:ext cx="39782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ru-RU" altLang="ru-RU" sz="2000" dirty="0"/>
              <a:t>распределение Больцмана: </a:t>
            </a:r>
            <a:endParaRPr lang="en-US" altLang="ru-RU" sz="2000" dirty="0"/>
          </a:p>
        </p:txBody>
      </p:sp>
      <p:sp>
        <p:nvSpPr>
          <p:cNvPr id="10246" name="Rectangle 7"/>
          <p:cNvSpPr/>
          <p:nvPr/>
        </p:nvSpPr>
        <p:spPr>
          <a:xfrm>
            <a:off x="0" y="3314700"/>
            <a:ext cx="9906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ru-RU" altLang="ru-RU" sz="1800" dirty="0"/>
          </a:p>
        </p:txBody>
      </p:sp>
      <p:graphicFrame>
        <p:nvGraphicFramePr>
          <p:cNvPr id="10247" name="Object 8"/>
          <p:cNvGraphicFramePr>
            <a:graphicFrameLocks noChangeAspect="1"/>
          </p:cNvGraphicFramePr>
          <p:nvPr/>
        </p:nvGraphicFramePr>
        <p:xfrm>
          <a:off x="4953000" y="2019300"/>
          <a:ext cx="4208463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2" r:id="rId5" imgW="1562100" imgH="228600" progId="Equation.3">
                  <p:embed/>
                </p:oleObj>
              </mc:Choice>
              <mc:Fallback>
                <p:oleObj r:id="rId5" imgW="1562100" imgH="228600" progId="Equation.3">
                  <p:embed/>
                  <p:pic>
                    <p:nvPicPr>
                      <p:cNvPr id="0" name="Изображение 308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53000" y="2019300"/>
                        <a:ext cx="4208463" cy="615950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8" name="Text Box 9"/>
          <p:cNvSpPr txBox="1"/>
          <p:nvPr/>
        </p:nvSpPr>
        <p:spPr>
          <a:xfrm>
            <a:off x="4876800" y="1195388"/>
            <a:ext cx="4359275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ru-RU" altLang="ru-RU" sz="2000" dirty="0"/>
              <a:t>условие термодинамического равновесия :</a:t>
            </a:r>
            <a:endParaRPr lang="en-US" altLang="ru-RU" sz="2000" dirty="0"/>
          </a:p>
        </p:txBody>
      </p:sp>
      <p:sp>
        <p:nvSpPr>
          <p:cNvPr id="10249" name="Rectangle 10"/>
          <p:cNvSpPr/>
          <p:nvPr/>
        </p:nvSpPr>
        <p:spPr>
          <a:xfrm>
            <a:off x="0" y="3195638"/>
            <a:ext cx="9906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ru-RU" altLang="ru-RU" sz="1800" dirty="0"/>
          </a:p>
        </p:txBody>
      </p:sp>
      <p:graphicFrame>
        <p:nvGraphicFramePr>
          <p:cNvPr id="10250" name="Object 11"/>
          <p:cNvGraphicFramePr>
            <a:graphicFrameLocks noChangeAspect="1"/>
          </p:cNvGraphicFramePr>
          <p:nvPr/>
        </p:nvGraphicFramePr>
        <p:xfrm>
          <a:off x="2360613" y="3470275"/>
          <a:ext cx="4383087" cy="103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3" r:id="rId7" imgW="1765300" imgH="457200" progId="Equation.3">
                  <p:embed/>
                </p:oleObj>
              </mc:Choice>
              <mc:Fallback>
                <p:oleObj r:id="rId7" imgW="1765300" imgH="457200" progId="Equation.3">
                  <p:embed/>
                  <p:pic>
                    <p:nvPicPr>
                      <p:cNvPr id="0" name="Изображение 309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360613" y="3470275"/>
                        <a:ext cx="4383087" cy="1036638"/>
                      </a:xfrm>
                      <a:prstGeom prst="rect">
                        <a:avLst/>
                      </a:prstGeom>
                      <a:noFill/>
                      <a:ln w="25400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1" name="AutoShape 12"/>
          <p:cNvSpPr/>
          <p:nvPr/>
        </p:nvSpPr>
        <p:spPr>
          <a:xfrm>
            <a:off x="3081338" y="2744788"/>
            <a:ext cx="3043237" cy="647700"/>
          </a:xfrm>
          <a:prstGeom prst="down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FFFF99"/>
              </a:gs>
              <a:gs pos="100000">
                <a:srgbClr val="767647"/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ru-RU" altLang="ru-RU" sz="1800" dirty="0"/>
          </a:p>
        </p:txBody>
      </p:sp>
      <p:sp>
        <p:nvSpPr>
          <p:cNvPr id="10252" name="Rectangle 15"/>
          <p:cNvSpPr/>
          <p:nvPr/>
        </p:nvSpPr>
        <p:spPr>
          <a:xfrm>
            <a:off x="0" y="2433638"/>
            <a:ext cx="9906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ru-RU" altLang="ru-RU" sz="1800" dirty="0"/>
          </a:p>
        </p:txBody>
      </p:sp>
      <p:sp>
        <p:nvSpPr>
          <p:cNvPr id="10253" name="Rectangle 19"/>
          <p:cNvSpPr/>
          <p:nvPr/>
        </p:nvSpPr>
        <p:spPr>
          <a:xfrm>
            <a:off x="0" y="3314700"/>
            <a:ext cx="9906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ru-RU" altLang="ru-RU" sz="1800" dirty="0"/>
          </a:p>
        </p:txBody>
      </p:sp>
      <p:sp>
        <p:nvSpPr>
          <p:cNvPr id="10254" name="Rectangle 24"/>
          <p:cNvSpPr/>
          <p:nvPr/>
        </p:nvSpPr>
        <p:spPr>
          <a:xfrm>
            <a:off x="0" y="3200400"/>
            <a:ext cx="9906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ru-RU" altLang="ru-RU" sz="1800" dirty="0"/>
          </a:p>
        </p:txBody>
      </p:sp>
      <p:sp>
        <p:nvSpPr>
          <p:cNvPr id="10255" name="Rectangle 41"/>
          <p:cNvSpPr/>
          <p:nvPr/>
        </p:nvSpPr>
        <p:spPr>
          <a:xfrm>
            <a:off x="0" y="3176588"/>
            <a:ext cx="9906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ru-RU" altLang="ru-RU" sz="1800" dirty="0"/>
          </a:p>
        </p:txBody>
      </p:sp>
      <p:graphicFrame>
        <p:nvGraphicFramePr>
          <p:cNvPr id="10256" name="Объект 3"/>
          <p:cNvGraphicFramePr>
            <a:graphicFrameLocks noChangeAspect="1"/>
          </p:cNvGraphicFramePr>
          <p:nvPr/>
        </p:nvGraphicFramePr>
        <p:xfrm>
          <a:off x="2865438" y="5408613"/>
          <a:ext cx="3690937" cy="119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4" r:id="rId9" imgW="1968500" imgH="635000" progId="Equation.KSEE3">
                  <p:embed/>
                </p:oleObj>
              </mc:Choice>
              <mc:Fallback>
                <p:oleObj r:id="rId9" imgW="1968500" imgH="635000" progId="Equation.KSEE3">
                  <p:embed/>
                  <p:pic>
                    <p:nvPicPr>
                      <p:cNvPr id="0" name="Изображение 308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865438" y="5408613"/>
                        <a:ext cx="3690937" cy="1190625"/>
                      </a:xfrm>
                      <a:prstGeom prst="rect">
                        <a:avLst/>
                      </a:prstGeom>
                      <a:noFill/>
                      <a:ln w="25400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7" name="TextBox 5"/>
          <p:cNvSpPr txBox="1"/>
          <p:nvPr/>
        </p:nvSpPr>
        <p:spPr>
          <a:xfrm>
            <a:off x="949325" y="4868863"/>
            <a:ext cx="752157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ru-RU" altLang="ru-RU" sz="1800" dirty="0"/>
              <a:t>Плотность энергии поля излучения равновесной квантовой системы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66" name="Объект 17"/>
          <p:cNvGraphicFramePr>
            <a:graphicFrameLocks noChangeAspect="1"/>
          </p:cNvGraphicFramePr>
          <p:nvPr/>
        </p:nvGraphicFramePr>
        <p:xfrm>
          <a:off x="5961063" y="2632075"/>
          <a:ext cx="3170237" cy="1214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5" r:id="rId3" imgW="1689100" imgH="647700" progId="Equation.KSEE3">
                  <p:embed/>
                </p:oleObj>
              </mc:Choice>
              <mc:Fallback>
                <p:oleObj r:id="rId3" imgW="1689100" imgH="647700" progId="Equation.KSEE3">
                  <p:embed/>
                  <p:pic>
                    <p:nvPicPr>
                      <p:cNvPr id="0" name="Изображение 308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61063" y="2632075"/>
                        <a:ext cx="3170237" cy="1214438"/>
                      </a:xfrm>
                      <a:prstGeom prst="rect">
                        <a:avLst/>
                      </a:prstGeom>
                      <a:noFill/>
                      <a:ln w="25400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7" name="Object 40"/>
          <p:cNvGraphicFramePr>
            <a:graphicFrameLocks noChangeAspect="1"/>
          </p:cNvGraphicFramePr>
          <p:nvPr/>
        </p:nvGraphicFramePr>
        <p:xfrm>
          <a:off x="6032500" y="4797425"/>
          <a:ext cx="2252663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6" r:id="rId5" imgW="825500" imgH="482600" progId="Equation.3">
                  <p:embed/>
                </p:oleObj>
              </mc:Choice>
              <mc:Fallback>
                <p:oleObj r:id="rId5" imgW="825500" imgH="482600" progId="Equation.3">
                  <p:embed/>
                  <p:pic>
                    <p:nvPicPr>
                      <p:cNvPr id="0" name="Изображение 308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32500" y="4797425"/>
                        <a:ext cx="2252663" cy="1206500"/>
                      </a:xfrm>
                      <a:prstGeom prst="rect">
                        <a:avLst/>
                      </a:prstGeom>
                      <a:noFill/>
                      <a:ln w="25400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8" name="TextBox 19"/>
          <p:cNvSpPr txBox="1"/>
          <p:nvPr/>
        </p:nvSpPr>
        <p:spPr>
          <a:xfrm>
            <a:off x="5457825" y="4287838"/>
            <a:ext cx="3748088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ru-RU" altLang="ru-RU" sz="1800" dirty="0"/>
              <a:t>Второе соотношение Эйнштейна</a:t>
            </a:r>
          </a:p>
        </p:txBody>
      </p:sp>
      <p:sp>
        <p:nvSpPr>
          <p:cNvPr id="11269" name="Rectangle 2"/>
          <p:cNvSpPr>
            <a:spLocks noGrp="1"/>
          </p:cNvSpPr>
          <p:nvPr>
            <p:ph type="title"/>
          </p:nvPr>
        </p:nvSpPr>
        <p:spPr>
          <a:xfrm>
            <a:off x="542925" y="50800"/>
            <a:ext cx="8915400" cy="955675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>
              <a:lnSpc>
                <a:spcPct val="70000"/>
              </a:lnSpc>
            </a:pPr>
            <a:r>
              <a:rPr lang="ru-RU" altLang="ja-JP" sz="3200" b="1" dirty="0">
                <a:solidFill>
                  <a:srgbClr val="3366FF"/>
                </a:solidFill>
                <a:latin typeface="Times New Roman" panose="02020603050405020304" pitchFamily="18" charset="0"/>
              </a:rPr>
              <a:t>Соотношения между коэффициентами Эйнштейна (2)</a:t>
            </a:r>
            <a:endParaRPr lang="en-US" altLang="ru-RU" sz="4000" dirty="0"/>
          </a:p>
        </p:txBody>
      </p:sp>
      <p:sp>
        <p:nvSpPr>
          <p:cNvPr id="11270" name="TextBox 21"/>
          <p:cNvSpPr txBox="1"/>
          <p:nvPr/>
        </p:nvSpPr>
        <p:spPr>
          <a:xfrm>
            <a:off x="128588" y="1333500"/>
            <a:ext cx="9580562" cy="9223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ru-RU" altLang="ru-RU" sz="1800" u="sng" dirty="0"/>
              <a:t>Эйнштейн постулировал</a:t>
            </a:r>
            <a:r>
              <a:rPr lang="ru-RU" altLang="ru-RU" sz="1800" dirty="0"/>
              <a:t>, что спектральная объемная плотность энергии излучения испускаемого или поглощаемого при равновесных переходах описывается формулой Планка</a:t>
            </a:r>
            <a:r>
              <a:rPr lang="en-US" altLang="ru-RU" sz="1800" dirty="0"/>
              <a:t>:</a:t>
            </a:r>
            <a:endParaRPr lang="ru-RU" altLang="ru-RU" sz="1800" dirty="0"/>
          </a:p>
        </p:txBody>
      </p:sp>
      <p:graphicFrame>
        <p:nvGraphicFramePr>
          <p:cNvPr id="11271" name="Объект 22"/>
          <p:cNvGraphicFramePr>
            <a:graphicFrameLocks noChangeAspect="1"/>
          </p:cNvGraphicFramePr>
          <p:nvPr/>
        </p:nvGraphicFramePr>
        <p:xfrm>
          <a:off x="523875" y="2644775"/>
          <a:ext cx="3690938" cy="119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7" r:id="rId7" imgW="1968500" imgH="635000" progId="Equation.KSEE3">
                  <p:embed/>
                </p:oleObj>
              </mc:Choice>
              <mc:Fallback>
                <p:oleObj r:id="rId7" imgW="1968500" imgH="635000" progId="Equation.KSEE3">
                  <p:embed/>
                  <p:pic>
                    <p:nvPicPr>
                      <p:cNvPr id="0" name="Изображение 308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23875" y="2644775"/>
                        <a:ext cx="3690938" cy="1190625"/>
                      </a:xfrm>
                      <a:prstGeom prst="rect">
                        <a:avLst/>
                      </a:prstGeom>
                      <a:noFill/>
                      <a:ln w="25400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Овал 23"/>
          <p:cNvSpPr/>
          <p:nvPr/>
        </p:nvSpPr>
        <p:spPr>
          <a:xfrm>
            <a:off x="1497013" y="3005138"/>
            <a:ext cx="1079500" cy="10699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6" name="Стрелка: влево-вправо 25"/>
          <p:cNvSpPr/>
          <p:nvPr/>
        </p:nvSpPr>
        <p:spPr>
          <a:xfrm>
            <a:off x="4521200" y="3082925"/>
            <a:ext cx="1079500" cy="460375"/>
          </a:xfrm>
          <a:prstGeom prst="left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1274" name="Object 92"/>
          <p:cNvGraphicFramePr>
            <a:graphicFrameLocks noChangeAspect="1"/>
          </p:cNvGraphicFramePr>
          <p:nvPr/>
        </p:nvGraphicFramePr>
        <p:xfrm>
          <a:off x="525463" y="4840288"/>
          <a:ext cx="2967037" cy="70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8" r:id="rId9" imgW="837565" imgH="215900" progId="Equation.3">
                  <p:embed/>
                </p:oleObj>
              </mc:Choice>
              <mc:Fallback>
                <p:oleObj r:id="rId9" imgW="837565" imgH="215900" progId="Equation.3">
                  <p:embed/>
                  <p:pic>
                    <p:nvPicPr>
                      <p:cNvPr id="0" name="Изображение 309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25463" y="4840288"/>
                        <a:ext cx="2967037" cy="709612"/>
                      </a:xfrm>
                      <a:prstGeom prst="rect">
                        <a:avLst/>
                      </a:prstGeom>
                      <a:noFill/>
                      <a:ln w="25400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5" name="TextBox 29"/>
          <p:cNvSpPr txBox="1"/>
          <p:nvPr/>
        </p:nvSpPr>
        <p:spPr>
          <a:xfrm>
            <a:off x="255588" y="4295775"/>
            <a:ext cx="3768725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ru-RU" altLang="ru-RU" sz="1800" dirty="0"/>
              <a:t>Первое соотношение Эйнштейна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Заголовок 1"/>
          <p:cNvSpPr>
            <a:spLocks noGrp="1"/>
          </p:cNvSpPr>
          <p:nvPr>
            <p:ph type="title"/>
          </p:nvPr>
        </p:nvSpPr>
        <p:spPr>
          <a:xfrm>
            <a:off x="495300" y="44450"/>
            <a:ext cx="8915400" cy="1143000"/>
          </a:xfrm>
          <a:ln/>
        </p:spPr>
        <p:txBody>
          <a:bodyPr vert="horz" wrap="square" lIns="91440" tIns="45720" rIns="91440" bIns="45720" anchor="ctr" anchorCtr="0"/>
          <a:lstStyle/>
          <a:p>
            <a:r>
              <a:rPr lang="ru-RU" altLang="ru-RU" dirty="0">
                <a:solidFill>
                  <a:srgbClr val="0066FF"/>
                </a:solidFill>
              </a:rPr>
              <a:t>Вероятность излучения</a:t>
            </a:r>
          </a:p>
        </p:txBody>
      </p:sp>
      <p:graphicFrame>
        <p:nvGraphicFramePr>
          <p:cNvPr id="12291" name="Объект 4"/>
          <p:cNvGraphicFramePr>
            <a:graphicFrameLocks noChangeAspect="1"/>
          </p:cNvGraphicFramePr>
          <p:nvPr/>
        </p:nvGraphicFramePr>
        <p:xfrm>
          <a:off x="631825" y="1412875"/>
          <a:ext cx="3106738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7" r:id="rId3" imgW="1892300" imgH="482600" progId="Equation.KSEE3">
                  <p:embed/>
                </p:oleObj>
              </mc:Choice>
              <mc:Fallback>
                <p:oleObj r:id="rId3" imgW="1892300" imgH="482600" progId="Equation.KSEE3">
                  <p:embed/>
                  <p:pic>
                    <p:nvPicPr>
                      <p:cNvPr id="0" name="Изображение 308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31825" y="1412875"/>
                        <a:ext cx="3106738" cy="792163"/>
                      </a:xfrm>
                      <a:prstGeom prst="rect">
                        <a:avLst/>
                      </a:prstGeom>
                      <a:noFill/>
                      <a:ln w="25400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2" name="TextBox 5"/>
          <p:cNvSpPr txBox="1"/>
          <p:nvPr/>
        </p:nvSpPr>
        <p:spPr>
          <a:xfrm>
            <a:off x="200025" y="2492375"/>
            <a:ext cx="9290050" cy="3694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algn="just">
              <a:spcBef>
                <a:spcPct val="0"/>
              </a:spcBef>
              <a:buAutoNum type="arabicPeriod"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Вероятность излучения складывается из вероятности спонтанного и вынужденного излучений.</a:t>
            </a:r>
          </a:p>
          <a:p>
            <a:pPr marL="342900" lvl="0" indent="-342900" algn="just">
              <a:spcBef>
                <a:spcPct val="0"/>
              </a:spcBef>
              <a:buAutoNum type="arabicPeriod"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Полная вероятность излучения пропорциональна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r>
              <a:rPr lang="ru-RU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>
              <a:spcBef>
                <a:spcPct val="0"/>
              </a:spcBef>
              <a:buAutoNum type="arabicPeriod"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Вероятность индуцированных переходов пропорциональна плотности энергии индуцирующего поля. </a:t>
            </a:r>
          </a:p>
          <a:p>
            <a:pPr marL="342900" lvl="0" indent="-342900" algn="just">
              <a:spcBef>
                <a:spcPct val="0"/>
              </a:spcBef>
              <a:buAutoNum type="arabicPeriod"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Индуцированное излучение когерентно и при достаточной плотности поля превалирует над спонтанным.</a:t>
            </a: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spcBef>
                <a:spcPct val="0"/>
              </a:spcBef>
              <a:buAutoNum type="arabicPeriod"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запрещены индуцированные переходы, то не может быть спонтанного излучения и наоборот.</a:t>
            </a:r>
          </a:p>
          <a:p>
            <a:pPr marL="342900" lvl="0" indent="-342900" algn="just">
              <a:spcBef>
                <a:spcPct val="0"/>
              </a:spcBef>
              <a:buAutoNum type="arabicPeriod"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Равновесное излучение всего ансамбля частиц по отношению к каждой из частиц выступает как внешнее ЭМП, стимулирующее поглощение или излучение частицей. Соотношения справедливы и для частицы во внешнем поле.</a:t>
            </a:r>
          </a:p>
          <a:p>
            <a:pPr marL="342900" lvl="0" indent="-342900" algn="just">
              <a:spcBef>
                <a:spcPct val="0"/>
              </a:spcBef>
              <a:buAutoNum type="arabicPeriod"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Вероятность спонтанного излучения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~</a:t>
            </a:r>
            <a:r>
              <a:rPr lang="el-GR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ν</a:t>
            </a:r>
            <a:r>
              <a:rPr lang="en-US" altLang="ru-RU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Мало на радиочастотах и велико в оптике.</a:t>
            </a:r>
            <a:endParaRPr lang="ru-RU" altLang="ru-RU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/>
          </p:cNvSpPr>
          <p:nvPr>
            <p:ph type="title"/>
          </p:nvPr>
        </p:nvSpPr>
        <p:spPr>
          <a:xfrm>
            <a:off x="542925" y="-38100"/>
            <a:ext cx="8915400" cy="1143000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>
              <a:lnSpc>
                <a:spcPct val="70000"/>
              </a:lnSpc>
            </a:pPr>
            <a:r>
              <a:rPr lang="ru-RU" altLang="ja-JP" sz="3200" b="1" dirty="0">
                <a:solidFill>
                  <a:srgbClr val="3366FF"/>
                </a:solidFill>
                <a:latin typeface="Times New Roman" panose="02020603050405020304" pitchFamily="18" charset="0"/>
              </a:rPr>
              <a:t>Соотношения между коэффициентами Эйнштейна (</a:t>
            </a:r>
            <a:r>
              <a:rPr lang="en-US" altLang="ja-JP" sz="3200" b="1" dirty="0">
                <a:solidFill>
                  <a:srgbClr val="3366FF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4</a:t>
            </a:r>
            <a:r>
              <a:rPr lang="ru-RU" altLang="ja-JP" sz="3200" b="1" dirty="0">
                <a:solidFill>
                  <a:srgbClr val="3366FF"/>
                </a:solidFill>
                <a:latin typeface="Times New Roman" panose="02020603050405020304" pitchFamily="18" charset="0"/>
              </a:rPr>
              <a:t>)</a:t>
            </a:r>
            <a:endParaRPr lang="en-US" altLang="ru-RU" sz="4000" dirty="0"/>
          </a:p>
        </p:txBody>
      </p:sp>
      <p:sp>
        <p:nvSpPr>
          <p:cNvPr id="13315" name="Rectangle 3"/>
          <p:cNvSpPr/>
          <p:nvPr/>
        </p:nvSpPr>
        <p:spPr>
          <a:xfrm>
            <a:off x="0" y="3195638"/>
            <a:ext cx="9906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ru-RU" altLang="ru-RU" sz="1800" dirty="0"/>
          </a:p>
        </p:txBody>
      </p:sp>
      <p:sp>
        <p:nvSpPr>
          <p:cNvPr id="13316" name="Rectangle 6"/>
          <p:cNvSpPr/>
          <p:nvPr/>
        </p:nvSpPr>
        <p:spPr>
          <a:xfrm>
            <a:off x="0" y="3314700"/>
            <a:ext cx="9906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ru-RU" altLang="ru-RU" sz="1800" dirty="0"/>
          </a:p>
        </p:txBody>
      </p:sp>
      <p:sp>
        <p:nvSpPr>
          <p:cNvPr id="13317" name="Rectangle 9"/>
          <p:cNvSpPr/>
          <p:nvPr/>
        </p:nvSpPr>
        <p:spPr>
          <a:xfrm>
            <a:off x="0" y="3195638"/>
            <a:ext cx="9906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ru-RU" altLang="ru-RU" sz="1800" dirty="0"/>
          </a:p>
        </p:txBody>
      </p:sp>
      <p:sp>
        <p:nvSpPr>
          <p:cNvPr id="13318" name="Rectangle 13"/>
          <p:cNvSpPr/>
          <p:nvPr/>
        </p:nvSpPr>
        <p:spPr>
          <a:xfrm>
            <a:off x="0" y="3314700"/>
            <a:ext cx="9906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ru-RU" altLang="ru-RU" sz="1800" dirty="0"/>
          </a:p>
        </p:txBody>
      </p:sp>
      <p:sp>
        <p:nvSpPr>
          <p:cNvPr id="13319" name="Rectangle 15"/>
          <p:cNvSpPr/>
          <p:nvPr/>
        </p:nvSpPr>
        <p:spPr>
          <a:xfrm>
            <a:off x="0" y="3200400"/>
            <a:ext cx="9906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ru-RU" altLang="ru-RU" sz="1800" dirty="0"/>
          </a:p>
        </p:txBody>
      </p:sp>
      <p:sp>
        <p:nvSpPr>
          <p:cNvPr id="13320" name="Rectangle 18"/>
          <p:cNvSpPr/>
          <p:nvPr/>
        </p:nvSpPr>
        <p:spPr>
          <a:xfrm>
            <a:off x="0" y="3176588"/>
            <a:ext cx="9906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ru-RU" altLang="ru-RU" sz="1800" dirty="0"/>
          </a:p>
        </p:txBody>
      </p:sp>
      <p:sp>
        <p:nvSpPr>
          <p:cNvPr id="13321" name="Rectangle 19"/>
          <p:cNvSpPr/>
          <p:nvPr/>
        </p:nvSpPr>
        <p:spPr>
          <a:xfrm>
            <a:off x="0" y="3119438"/>
            <a:ext cx="9906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ru-RU" altLang="ru-RU" sz="1800" dirty="0"/>
          </a:p>
        </p:txBody>
      </p:sp>
      <p:graphicFrame>
        <p:nvGraphicFramePr>
          <p:cNvPr id="13322" name="Object 23"/>
          <p:cNvGraphicFramePr>
            <a:graphicFrameLocks noGrp="1" noChangeAspect="1"/>
          </p:cNvGraphicFramePr>
          <p:nvPr>
            <p:ph idx="1"/>
          </p:nvPr>
        </p:nvGraphicFramePr>
        <p:xfrm>
          <a:off x="271463" y="1057275"/>
          <a:ext cx="3168650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3" r:id="rId3" imgW="837565" imgH="215900" progId="Equation.3">
                  <p:embed/>
                </p:oleObj>
              </mc:Choice>
              <mc:Fallback>
                <p:oleObj r:id="rId3" imgW="837565" imgH="215900" progId="Equation.3">
                  <p:embed/>
                  <p:pic>
                    <p:nvPicPr>
                      <p:cNvPr id="0" name="Изображение 3106"/>
                      <p:cNvPicPr/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>
                      <a:xfrm>
                        <a:off x="271463" y="1057275"/>
                        <a:ext cx="3168650" cy="815975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00">
                            <a:alpha val="100000"/>
                          </a:srgbClr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3" name="Line 24"/>
          <p:cNvSpPr/>
          <p:nvPr/>
        </p:nvSpPr>
        <p:spPr>
          <a:xfrm>
            <a:off x="55563" y="2014538"/>
            <a:ext cx="9555162" cy="0"/>
          </a:xfrm>
          <a:prstGeom prst="line">
            <a:avLst/>
          </a:prstGeom>
          <a:ln w="28575" cap="flat" cmpd="sng">
            <a:solidFill>
              <a:srgbClr val="FF33CC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324" name="Rectangle 26"/>
          <p:cNvSpPr/>
          <p:nvPr/>
        </p:nvSpPr>
        <p:spPr>
          <a:xfrm>
            <a:off x="0" y="3119438"/>
            <a:ext cx="9906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ru-RU" altLang="ru-RU" sz="1800" dirty="0"/>
          </a:p>
        </p:txBody>
      </p:sp>
      <p:graphicFrame>
        <p:nvGraphicFramePr>
          <p:cNvPr id="13325" name="Object 25"/>
          <p:cNvGraphicFramePr>
            <a:graphicFrameLocks noChangeAspect="1"/>
          </p:cNvGraphicFramePr>
          <p:nvPr/>
        </p:nvGraphicFramePr>
        <p:xfrm>
          <a:off x="193675" y="2128838"/>
          <a:ext cx="2420938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4" r:id="rId5" imgW="837565" imgH="482600" progId="Equation.3">
                  <p:embed/>
                </p:oleObj>
              </mc:Choice>
              <mc:Fallback>
                <p:oleObj r:id="rId5" imgW="837565" imgH="482600" progId="Equation.3">
                  <p:embed/>
                  <p:pic>
                    <p:nvPicPr>
                      <p:cNvPr id="0" name="Изображение 310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3675" y="2128838"/>
                        <a:ext cx="2420938" cy="1295400"/>
                      </a:xfrm>
                      <a:prstGeom prst="rect">
                        <a:avLst/>
                      </a:prstGeom>
                      <a:noFill/>
                      <a:ln w="28575" cap="flat" cmpd="sng">
                        <a:solidFill>
                          <a:srgbClr val="00FF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6" name="Rectangle 27"/>
          <p:cNvSpPr/>
          <p:nvPr/>
        </p:nvSpPr>
        <p:spPr>
          <a:xfrm>
            <a:off x="2720975" y="2420938"/>
            <a:ext cx="6305550" cy="822325"/>
          </a:xfrm>
          <a:prstGeom prst="rect">
            <a:avLst/>
          </a:prstGeom>
          <a:noFill/>
          <a:ln w="9525" cap="flat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ru-RU" altLang="ja-JP" sz="2000" b="1" dirty="0">
                <a:latin typeface="Times New Roman" panose="02020603050405020304" pitchFamily="18" charset="0"/>
              </a:rPr>
              <a:t>число мод резонатора</a:t>
            </a:r>
            <a:r>
              <a:rPr lang="ru-RU" altLang="ja-JP" sz="2000" b="1" dirty="0">
                <a:latin typeface="Times New Roman" panose="02020603050405020304" pitchFamily="18" charset="0"/>
                <a:ea typeface="MS Mincho" charset="-128"/>
              </a:rPr>
              <a:t> </a:t>
            </a:r>
            <a:r>
              <a:rPr lang="ru-RU" altLang="ja-JP" sz="2000" b="1" dirty="0">
                <a:latin typeface="Times New Roman" panose="02020603050405020304" pitchFamily="18" charset="0"/>
              </a:rPr>
              <a:t>в единичном</a:t>
            </a:r>
            <a:r>
              <a:rPr lang="ru-RU" altLang="ja-JP" sz="2000" b="1" dirty="0">
                <a:latin typeface="Times New Roman" panose="02020603050405020304" pitchFamily="18" charset="0"/>
                <a:ea typeface="MS Mincho" charset="-128"/>
              </a:rPr>
              <a:t> </a:t>
            </a:r>
            <a:r>
              <a:rPr lang="ru-RU" altLang="ja-JP" sz="2000" b="1" dirty="0">
                <a:latin typeface="Times New Roman" panose="02020603050405020304" pitchFamily="18" charset="0"/>
              </a:rPr>
              <a:t>объеме в единичном</a:t>
            </a:r>
            <a:r>
              <a:rPr lang="ru-RU" altLang="ja-JP" sz="2000" b="1" dirty="0">
                <a:latin typeface="Times New Roman" panose="02020603050405020304" pitchFamily="18" charset="0"/>
                <a:ea typeface="MS Mincho" charset="-128"/>
              </a:rPr>
              <a:t> </a:t>
            </a:r>
            <a:r>
              <a:rPr lang="ru-RU" altLang="ja-JP" sz="2000" b="1" dirty="0">
                <a:latin typeface="Times New Roman" panose="02020603050405020304" pitchFamily="18" charset="0"/>
              </a:rPr>
              <a:t>интервале частот;  </a:t>
            </a:r>
            <a:r>
              <a:rPr lang="en-US" altLang="ja-JP" sz="2000" b="1" dirty="0">
                <a:latin typeface="Times New Roman" panose="02020603050405020304" pitchFamily="18" charset="0"/>
                <a:ea typeface="MS PGothic" panose="020B0600070205080204" pitchFamily="34" charset="-128"/>
              </a:rPr>
              <a:t>[</a:t>
            </a:r>
            <a:r>
              <a:rPr lang="ru-RU" altLang="ja-JP" sz="2000" b="1" dirty="0">
                <a:latin typeface="Times New Roman" panose="02020603050405020304" pitchFamily="18" charset="0"/>
              </a:rPr>
              <a:t>см</a:t>
            </a:r>
            <a:r>
              <a:rPr lang="ru-RU" altLang="ja-JP" sz="2000" b="1" baseline="30000" dirty="0">
                <a:latin typeface="Times New Roman" panose="02020603050405020304" pitchFamily="18" charset="0"/>
              </a:rPr>
              <a:t>-3</a:t>
            </a:r>
            <a:r>
              <a:rPr lang="ru-RU" altLang="ja-JP" sz="2000" b="1" dirty="0">
                <a:latin typeface="Times New Roman" panose="02020603050405020304" pitchFamily="18" charset="0"/>
              </a:rPr>
              <a:t>с</a:t>
            </a:r>
            <a:r>
              <a:rPr lang="en-US" altLang="ja-JP" sz="2000" b="1" dirty="0">
                <a:latin typeface="Times New Roman" panose="02020603050405020304" pitchFamily="18" charset="0"/>
                <a:ea typeface="MS PGothic" panose="020B0600070205080204" pitchFamily="34" charset="-128"/>
              </a:rPr>
              <a:t>]</a:t>
            </a:r>
            <a:endParaRPr lang="en-US" altLang="ru-RU" sz="2000" b="1" dirty="0">
              <a:latin typeface="Times New Roman" panose="02020603050405020304" pitchFamily="18" charset="0"/>
            </a:endParaRPr>
          </a:p>
        </p:txBody>
      </p:sp>
      <p:grpSp>
        <p:nvGrpSpPr>
          <p:cNvPr id="13327" name="Group 40"/>
          <p:cNvGrpSpPr/>
          <p:nvPr/>
        </p:nvGrpSpPr>
        <p:grpSpPr>
          <a:xfrm>
            <a:off x="66675" y="5013325"/>
            <a:ext cx="9412288" cy="1558925"/>
            <a:chOff x="39" y="3158"/>
            <a:chExt cx="5473" cy="982"/>
          </a:xfrm>
        </p:grpSpPr>
        <p:graphicFrame>
          <p:nvGraphicFramePr>
            <p:cNvPr id="13332" name="Object 20"/>
            <p:cNvGraphicFramePr>
              <a:graphicFrameLocks noChangeAspect="1"/>
            </p:cNvGraphicFramePr>
            <p:nvPr/>
          </p:nvGraphicFramePr>
          <p:xfrm>
            <a:off x="39" y="3283"/>
            <a:ext cx="3662" cy="8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35" r:id="rId7" imgW="2933700" imgH="660400" progId="Equation.3">
                    <p:embed/>
                  </p:oleObj>
                </mc:Choice>
                <mc:Fallback>
                  <p:oleObj r:id="rId7" imgW="2933700" imgH="660400" progId="Equation.3">
                    <p:embed/>
                    <p:pic>
                      <p:nvPicPr>
                        <p:cNvPr id="0" name="Изображение 3104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9" y="3283"/>
                          <a:ext cx="3662" cy="819"/>
                        </a:xfrm>
                        <a:prstGeom prst="rect">
                          <a:avLst/>
                        </a:prstGeom>
                        <a:noFill/>
                        <a:ln w="28575" cap="flat" cmpd="sng">
                          <a:solidFill>
                            <a:schemeClr val="tx1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33" name="AutoShape 28"/>
            <p:cNvSpPr/>
            <p:nvPr/>
          </p:nvSpPr>
          <p:spPr>
            <a:xfrm>
              <a:off x="2653" y="3323"/>
              <a:ext cx="1089" cy="817"/>
            </a:xfrm>
            <a:prstGeom prst="wedgeEllipseCallout">
              <a:avLst>
                <a:gd name="adj1" fmla="val 83611"/>
                <a:gd name="adj2" fmla="val -57097"/>
              </a:avLst>
            </a:prstGeom>
            <a:noFill/>
            <a:ln w="9525" cap="flat" cmpd="sng">
              <a:solidFill>
                <a:srgbClr val="3366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ru-RU" altLang="ru-RU" sz="1800" dirty="0"/>
            </a:p>
          </p:txBody>
        </p:sp>
        <p:sp>
          <p:nvSpPr>
            <p:cNvPr id="13334" name="Text Box 29"/>
            <p:cNvSpPr txBox="1"/>
            <p:nvPr/>
          </p:nvSpPr>
          <p:spPr>
            <a:xfrm>
              <a:off x="4105" y="3158"/>
              <a:ext cx="1407" cy="832"/>
            </a:xfrm>
            <a:prstGeom prst="rect">
              <a:avLst/>
            </a:prstGeom>
            <a:noFill/>
            <a:ln w="9525" cap="flat" cmpd="sng">
              <a:solidFill>
                <a:srgbClr val="3366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ru-RU" altLang="ru-RU" sz="2000" dirty="0"/>
                <a:t>число фотонов на одну моду в  </a:t>
              </a:r>
              <a:r>
                <a:rPr lang="ru-RU" altLang="ru-RU" sz="2000" i="1" dirty="0">
                  <a:solidFill>
                    <a:srgbClr val="3366FF"/>
                  </a:solidFill>
                </a:rPr>
                <a:t>спонтанном </a:t>
              </a:r>
              <a:r>
                <a:rPr lang="ru-RU" altLang="ru-RU" sz="2000" dirty="0"/>
                <a:t>излучении</a:t>
              </a:r>
              <a:r>
                <a:rPr lang="ru-RU" altLang="ru-RU" sz="2000" dirty="0">
                  <a:solidFill>
                    <a:srgbClr val="0066FF"/>
                  </a:solidFill>
                </a:rPr>
                <a:t> </a:t>
              </a:r>
              <a:r>
                <a:rPr lang="en-US" altLang="ru-RU" sz="2000" dirty="0">
                  <a:solidFill>
                    <a:srgbClr val="0066FF"/>
                  </a:solidFill>
                </a:rPr>
                <a:t>&lt;&lt; 1</a:t>
              </a:r>
            </a:p>
          </p:txBody>
        </p:sp>
      </p:grpSp>
      <p:grpSp>
        <p:nvGrpSpPr>
          <p:cNvPr id="13328" name="Group 35"/>
          <p:cNvGrpSpPr/>
          <p:nvPr/>
        </p:nvGrpSpPr>
        <p:grpSpPr>
          <a:xfrm>
            <a:off x="584200" y="3395663"/>
            <a:ext cx="9013825" cy="1473200"/>
            <a:chOff x="340" y="2115"/>
            <a:chExt cx="5241" cy="928"/>
          </a:xfrm>
        </p:grpSpPr>
        <p:graphicFrame>
          <p:nvGraphicFramePr>
            <p:cNvPr id="13330" name="Object 22"/>
            <p:cNvGraphicFramePr>
              <a:graphicFrameLocks noChangeAspect="1"/>
            </p:cNvGraphicFramePr>
            <p:nvPr/>
          </p:nvGraphicFramePr>
          <p:xfrm>
            <a:off x="340" y="2285"/>
            <a:ext cx="2994" cy="7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36" r:id="rId9" imgW="1841500" imgH="482600" progId="Equation.3">
                    <p:embed/>
                  </p:oleObj>
                </mc:Choice>
                <mc:Fallback>
                  <p:oleObj r:id="rId9" imgW="1841500" imgH="482600" progId="Equation.3">
                    <p:embed/>
                    <p:pic>
                      <p:nvPicPr>
                        <p:cNvPr id="0" name="Изображение 3105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40" y="2285"/>
                          <a:ext cx="2994" cy="737"/>
                        </a:xfrm>
                        <a:prstGeom prst="rect">
                          <a:avLst/>
                        </a:prstGeom>
                        <a:noFill/>
                        <a:ln w="25400" cap="flat" cmpd="sng">
                          <a:solidFill>
                            <a:srgbClr val="FF0000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31" name="Text Box 31"/>
            <p:cNvSpPr txBox="1"/>
            <p:nvPr/>
          </p:nvSpPr>
          <p:spPr>
            <a:xfrm>
              <a:off x="3539" y="2115"/>
              <a:ext cx="2042" cy="928"/>
            </a:xfrm>
            <a:prstGeom prst="rect">
              <a:avLst/>
            </a:prstGeom>
            <a:noFill/>
            <a:ln w="9525" cap="flat" cmpd="sng">
              <a:solidFill>
                <a:srgbClr val="3366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ru-RU" altLang="ru-RU" sz="2000" i="1" dirty="0">
                  <a:solidFill>
                    <a:srgbClr val="3366FF"/>
                  </a:solidFill>
                </a:rPr>
                <a:t>Вынужденное</a:t>
              </a:r>
              <a:r>
                <a:rPr lang="ru-RU" altLang="ru-RU" sz="2000" dirty="0"/>
                <a:t> излучение – один фотон</a:t>
              </a:r>
            </a:p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ru-RU" altLang="ru-RU" sz="2000" i="1" dirty="0">
                  <a:solidFill>
                    <a:srgbClr val="3366FF"/>
                  </a:solidFill>
                </a:rPr>
                <a:t>Спонтанное</a:t>
              </a:r>
              <a:r>
                <a:rPr lang="ru-RU" altLang="ru-RU" sz="2000" dirty="0"/>
                <a:t> излучение – </a:t>
              </a:r>
            </a:p>
            <a:p>
              <a:pPr marL="0" lvl="0" indent="0" eaLnBrk="1" hangingPunct="1">
                <a:lnSpc>
                  <a:spcPct val="50000"/>
                </a:lnSpc>
                <a:spcBef>
                  <a:spcPct val="50000"/>
                </a:spcBef>
                <a:buNone/>
              </a:pPr>
              <a:r>
                <a:rPr lang="ru-RU" altLang="ru-RU" sz="2000" dirty="0"/>
                <a:t>один фотон  </a:t>
              </a:r>
              <a:r>
                <a:rPr lang="en-US" altLang="ru-RU" sz="2000" dirty="0"/>
                <a:t>x</a:t>
              </a:r>
              <a:r>
                <a:rPr lang="ru-RU" altLang="ru-RU" sz="2000" dirty="0"/>
                <a:t>  число мод</a:t>
              </a:r>
              <a:r>
                <a:rPr lang="ru-RU" altLang="ru-RU" sz="1800" dirty="0"/>
                <a:t> </a:t>
              </a:r>
              <a:endParaRPr lang="en-US" altLang="ru-RU" sz="1800" dirty="0"/>
            </a:p>
          </p:txBody>
        </p:sp>
      </p:grpSp>
      <p:sp>
        <p:nvSpPr>
          <p:cNvPr id="13329" name="Text Box 39"/>
          <p:cNvSpPr txBox="1"/>
          <p:nvPr/>
        </p:nvSpPr>
        <p:spPr>
          <a:xfrm>
            <a:off x="3633788" y="1039813"/>
            <a:ext cx="6078537" cy="831850"/>
          </a:xfrm>
          <a:prstGeom prst="rec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50000"/>
              </a:spcBef>
              <a:buNone/>
            </a:pPr>
            <a:r>
              <a:rPr lang="ru-RU" altLang="ru-RU" sz="2000" b="1" dirty="0">
                <a:latin typeface="Times New Roman" panose="02020603050405020304" pitchFamily="18" charset="0"/>
              </a:rPr>
              <a:t>Вероятности вынужденных переходов  одинаковы с точностью до коэф. вырождения</a:t>
            </a:r>
            <a:endParaRPr lang="ru-RU" altLang="ru-RU" sz="1800" i="1" dirty="0">
              <a:solidFill>
                <a:srgbClr val="3366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/>
          </p:cNvSpPr>
          <p:nvPr>
            <p:ph type="title"/>
          </p:nvPr>
        </p:nvSpPr>
        <p:spPr>
          <a:xfrm>
            <a:off x="542925" y="-38100"/>
            <a:ext cx="8915400" cy="1143000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>
              <a:lnSpc>
                <a:spcPct val="70000"/>
              </a:lnSpc>
            </a:pPr>
            <a:r>
              <a:rPr lang="ru-RU" altLang="ja-JP" sz="3200" b="1" dirty="0">
                <a:solidFill>
                  <a:srgbClr val="3366FF"/>
                </a:solidFill>
                <a:latin typeface="Times New Roman" panose="02020603050405020304" pitchFamily="18" charset="0"/>
              </a:rPr>
              <a:t>Вероятности переходов</a:t>
            </a:r>
            <a:endParaRPr lang="en-US" altLang="ru-RU" sz="4000" dirty="0"/>
          </a:p>
        </p:txBody>
      </p:sp>
      <p:sp>
        <p:nvSpPr>
          <p:cNvPr id="14339" name="Rectangle 3"/>
          <p:cNvSpPr/>
          <p:nvPr/>
        </p:nvSpPr>
        <p:spPr>
          <a:xfrm>
            <a:off x="0" y="3195638"/>
            <a:ext cx="9906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ru-RU" altLang="ru-RU" sz="1800" dirty="0"/>
          </a:p>
        </p:txBody>
      </p:sp>
      <p:sp>
        <p:nvSpPr>
          <p:cNvPr id="14340" name="Rectangle 4"/>
          <p:cNvSpPr/>
          <p:nvPr/>
        </p:nvSpPr>
        <p:spPr>
          <a:xfrm>
            <a:off x="0" y="3314700"/>
            <a:ext cx="9906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ru-RU" altLang="ru-RU" sz="1800" dirty="0"/>
          </a:p>
        </p:txBody>
      </p:sp>
      <p:sp>
        <p:nvSpPr>
          <p:cNvPr id="14341" name="Rectangle 5"/>
          <p:cNvSpPr/>
          <p:nvPr/>
        </p:nvSpPr>
        <p:spPr>
          <a:xfrm>
            <a:off x="0" y="3195638"/>
            <a:ext cx="9906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ru-RU" altLang="ru-RU" sz="1800" dirty="0"/>
          </a:p>
        </p:txBody>
      </p:sp>
      <p:sp>
        <p:nvSpPr>
          <p:cNvPr id="14342" name="Rectangle 6"/>
          <p:cNvSpPr/>
          <p:nvPr/>
        </p:nvSpPr>
        <p:spPr>
          <a:xfrm>
            <a:off x="0" y="3314700"/>
            <a:ext cx="9906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ru-RU" altLang="ru-RU" sz="1800" dirty="0"/>
          </a:p>
        </p:txBody>
      </p:sp>
      <p:sp>
        <p:nvSpPr>
          <p:cNvPr id="14343" name="Rectangle 7"/>
          <p:cNvSpPr/>
          <p:nvPr/>
        </p:nvSpPr>
        <p:spPr>
          <a:xfrm>
            <a:off x="0" y="3200400"/>
            <a:ext cx="9906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ru-RU" altLang="ru-RU" sz="1800" dirty="0"/>
          </a:p>
        </p:txBody>
      </p:sp>
      <p:sp>
        <p:nvSpPr>
          <p:cNvPr id="14344" name="Rectangle 8"/>
          <p:cNvSpPr/>
          <p:nvPr/>
        </p:nvSpPr>
        <p:spPr>
          <a:xfrm>
            <a:off x="0" y="3176588"/>
            <a:ext cx="9906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ru-RU" altLang="ru-RU" sz="1800" dirty="0"/>
          </a:p>
        </p:txBody>
      </p:sp>
      <p:sp>
        <p:nvSpPr>
          <p:cNvPr id="14345" name="Rectangle 9"/>
          <p:cNvSpPr/>
          <p:nvPr/>
        </p:nvSpPr>
        <p:spPr>
          <a:xfrm>
            <a:off x="0" y="3119438"/>
            <a:ext cx="9906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ru-RU" altLang="ru-RU" sz="1800" dirty="0"/>
          </a:p>
        </p:txBody>
      </p:sp>
      <p:graphicFrame>
        <p:nvGraphicFramePr>
          <p:cNvPr id="14346" name="Object 10"/>
          <p:cNvGraphicFramePr>
            <a:graphicFrameLocks noGrp="1" noChangeAspect="1"/>
          </p:cNvGraphicFramePr>
          <p:nvPr>
            <p:ph idx="1"/>
          </p:nvPr>
        </p:nvGraphicFramePr>
        <p:xfrm>
          <a:off x="1106488" y="1565275"/>
          <a:ext cx="3168650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7" r:id="rId3" imgW="837565" imgH="215900" progId="Equation.3">
                  <p:embed/>
                </p:oleObj>
              </mc:Choice>
              <mc:Fallback>
                <p:oleObj r:id="rId3" imgW="837565" imgH="215900" progId="Equation.3">
                  <p:embed/>
                  <p:pic>
                    <p:nvPicPr>
                      <p:cNvPr id="0" name="Изображение 3101"/>
                      <p:cNvPicPr/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>
                      <a:xfrm>
                        <a:off x="1106488" y="1565275"/>
                        <a:ext cx="3168650" cy="815975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00">
                            <a:alpha val="100000"/>
                          </a:srgbClr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7" name="Rectangle 12"/>
          <p:cNvSpPr/>
          <p:nvPr/>
        </p:nvSpPr>
        <p:spPr>
          <a:xfrm>
            <a:off x="0" y="3119438"/>
            <a:ext cx="9906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ru-RU" altLang="ru-RU" sz="1800" dirty="0"/>
          </a:p>
        </p:txBody>
      </p:sp>
      <p:graphicFrame>
        <p:nvGraphicFramePr>
          <p:cNvPr id="14348" name="Object 20"/>
          <p:cNvGraphicFramePr>
            <a:graphicFrameLocks noChangeAspect="1"/>
          </p:cNvGraphicFramePr>
          <p:nvPr/>
        </p:nvGraphicFramePr>
        <p:xfrm>
          <a:off x="4875213" y="1230313"/>
          <a:ext cx="2805112" cy="1169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8" r:id="rId5" imgW="1002665" imgH="482600" progId="Equation.3">
                  <p:embed/>
                </p:oleObj>
              </mc:Choice>
              <mc:Fallback>
                <p:oleObj r:id="rId5" imgW="1002665" imgH="482600" progId="Equation.3">
                  <p:embed/>
                  <p:pic>
                    <p:nvPicPr>
                      <p:cNvPr id="0" name="Изображение 310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875213" y="1230313"/>
                        <a:ext cx="2805112" cy="1169987"/>
                      </a:xfrm>
                      <a:prstGeom prst="rect">
                        <a:avLst/>
                      </a:prstGeom>
                      <a:noFill/>
                      <a:ln w="25400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9" name="AutoShape 24"/>
          <p:cNvSpPr/>
          <p:nvPr/>
        </p:nvSpPr>
        <p:spPr>
          <a:xfrm>
            <a:off x="3159125" y="2420938"/>
            <a:ext cx="3043238" cy="936625"/>
          </a:xfrm>
          <a:prstGeom prst="down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FFFF99"/>
              </a:gs>
              <a:gs pos="100000">
                <a:srgbClr val="767647"/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ru-RU" altLang="ru-RU" sz="1800" dirty="0"/>
          </a:p>
        </p:txBody>
      </p:sp>
      <p:graphicFrame>
        <p:nvGraphicFramePr>
          <p:cNvPr id="14350" name="Object 25"/>
          <p:cNvGraphicFramePr>
            <a:graphicFrameLocks noChangeAspect="1"/>
          </p:cNvGraphicFramePr>
          <p:nvPr/>
        </p:nvGraphicFramePr>
        <p:xfrm>
          <a:off x="415925" y="3376613"/>
          <a:ext cx="4124325" cy="1173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9" r:id="rId7" imgW="1574800" imgH="482600" progId="Equation.3">
                  <p:embed/>
                </p:oleObj>
              </mc:Choice>
              <mc:Fallback>
                <p:oleObj r:id="rId7" imgW="1574800" imgH="482600" progId="Equation.3">
                  <p:embed/>
                  <p:pic>
                    <p:nvPicPr>
                      <p:cNvPr id="0" name="Изображение 310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15925" y="3376613"/>
                        <a:ext cx="4124325" cy="1173162"/>
                      </a:xfrm>
                      <a:prstGeom prst="rect">
                        <a:avLst/>
                      </a:prstGeom>
                      <a:noFill/>
                      <a:ln w="19050" cap="flat" cmpd="sng">
                        <a:solidFill>
                          <a:srgbClr val="FF00FF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1" name="Rectangle 28"/>
          <p:cNvSpPr/>
          <p:nvPr/>
        </p:nvSpPr>
        <p:spPr>
          <a:xfrm>
            <a:off x="0" y="3314700"/>
            <a:ext cx="9906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ru-RU" altLang="ru-RU" sz="1800" dirty="0"/>
          </a:p>
        </p:txBody>
      </p:sp>
      <p:graphicFrame>
        <p:nvGraphicFramePr>
          <p:cNvPr id="14352" name="Object 27"/>
          <p:cNvGraphicFramePr>
            <a:graphicFrameLocks noChangeAspect="1"/>
          </p:cNvGraphicFramePr>
          <p:nvPr/>
        </p:nvGraphicFramePr>
        <p:xfrm>
          <a:off x="4954588" y="3414713"/>
          <a:ext cx="2644775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0" r:id="rId9" imgW="965200" imgH="431800" progId="Equation.3">
                  <p:embed/>
                </p:oleObj>
              </mc:Choice>
              <mc:Fallback>
                <p:oleObj r:id="rId9" imgW="965200" imgH="431800" progId="Equation.3">
                  <p:embed/>
                  <p:pic>
                    <p:nvPicPr>
                      <p:cNvPr id="0" name="Изображение 310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954588" y="3414713"/>
                        <a:ext cx="2644775" cy="1085850"/>
                      </a:xfrm>
                      <a:prstGeom prst="rect">
                        <a:avLst/>
                      </a:prstGeom>
                      <a:noFill/>
                      <a:ln w="19050" cap="flat" cmpd="sng">
                        <a:solidFill>
                          <a:srgbClr val="FF00FF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3" name="Rectangle 31"/>
          <p:cNvSpPr/>
          <p:nvPr/>
        </p:nvSpPr>
        <p:spPr>
          <a:xfrm>
            <a:off x="1878013" y="4575175"/>
            <a:ext cx="5605462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ru-RU" altLang="ko-KR" sz="1400" dirty="0">
                <a:cs typeface="Times New Roman" panose="02020603050405020304" pitchFamily="18" charset="0"/>
              </a:rPr>
              <a:t> </a:t>
            </a:r>
            <a:r>
              <a:rPr lang="en-US" altLang="ko-KR" sz="2000" dirty="0">
                <a:latin typeface="Symbol" panose="05050102010706020507" pitchFamily="18" charset="2"/>
                <a:ea typeface="굴림" charset="-127"/>
              </a:rPr>
              <a:t>r</a:t>
            </a:r>
            <a:r>
              <a:rPr lang="en-US" altLang="ko-KR" sz="2000" baseline="-25000" dirty="0">
                <a:latin typeface="Symbol" panose="05050102010706020507" pitchFamily="18" charset="2"/>
                <a:ea typeface="굴림" charset="-127"/>
              </a:rPr>
              <a:t>n</a:t>
            </a:r>
            <a:r>
              <a:rPr lang="ru-RU" altLang="ko-KR" sz="1800" dirty="0">
                <a:cs typeface="Times New Roman" panose="02020603050405020304" pitchFamily="18" charset="0"/>
              </a:rPr>
              <a:t>- </a:t>
            </a:r>
            <a:r>
              <a:rPr lang="ru-RU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равновесное излучение, а</a:t>
            </a:r>
            <a:r>
              <a:rPr lang="en-US" altLang="ko-KR" sz="1800" dirty="0">
                <a:latin typeface="Times New Roman" panose="02020603050405020304" pitchFamily="18" charset="0"/>
                <a:ea typeface="굴림" charset="-127"/>
              </a:rPr>
              <a:t> </a:t>
            </a:r>
            <a:r>
              <a:rPr lang="ru-RU" altLang="ko-KR" sz="1800" dirty="0">
                <a:latin typeface="Times New Roman" panose="02020603050405020304" pitchFamily="18" charset="0"/>
              </a:rPr>
              <a:t>суммарное </a:t>
            </a:r>
            <a:r>
              <a:rPr lang="ru-RU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излучение</a:t>
            </a:r>
            <a:r>
              <a:rPr lang="en-US" altLang="ko-KR" sz="1800" dirty="0">
                <a:ea typeface="굴림" charset="-127"/>
              </a:rPr>
              <a:t> </a:t>
            </a:r>
          </a:p>
        </p:txBody>
      </p:sp>
      <p:sp>
        <p:nvSpPr>
          <p:cNvPr id="14354" name="TextBox 1"/>
          <p:cNvSpPr txBox="1"/>
          <p:nvPr/>
        </p:nvSpPr>
        <p:spPr>
          <a:xfrm>
            <a:off x="55563" y="5083175"/>
            <a:ext cx="9434512" cy="923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ru-RU" altLang="x-none" dirty="0">
                <a:latin typeface="Arial" panose="020B0604020202020204" pitchFamily="34" charset="0"/>
              </a:rPr>
              <a:t>При достаточно большой плотности ЭМП вынужденные переходы преобладают над спонтанными, т.е. происходит индуцированное излучение, которое когерентно. </a:t>
            </a:r>
          </a:p>
          <a:p>
            <a:r>
              <a:rPr lang="ru-RU" altLang="x-none" dirty="0">
                <a:latin typeface="Arial" panose="020B0604020202020204" pitchFamily="34" charset="0"/>
              </a:rPr>
              <a:t>Пример с классическим осциллятором и отрицательной поглощаемой мощностью.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/>
          </p:cNvSpPr>
          <p:nvPr>
            <p:ph type="title"/>
          </p:nvPr>
        </p:nvSpPr>
        <p:spPr>
          <a:xfrm>
            <a:off x="542925" y="-38100"/>
            <a:ext cx="8915400" cy="1143000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>
              <a:lnSpc>
                <a:spcPct val="70000"/>
              </a:lnSpc>
            </a:pPr>
            <a:r>
              <a:rPr lang="ru-RU" altLang="ja-JP" sz="3200" b="1" dirty="0">
                <a:solidFill>
                  <a:srgbClr val="3366FF"/>
                </a:solidFill>
                <a:latin typeface="Times New Roman" panose="02020603050405020304" pitchFamily="18" charset="0"/>
              </a:rPr>
              <a:t>Коэффициенты Эйнштейна. Выводы.</a:t>
            </a:r>
            <a:endParaRPr lang="en-US" altLang="ru-RU" sz="4000" dirty="0"/>
          </a:p>
        </p:txBody>
      </p:sp>
      <p:sp>
        <p:nvSpPr>
          <p:cNvPr id="15363" name="Text Box 38"/>
          <p:cNvSpPr txBox="1"/>
          <p:nvPr/>
        </p:nvSpPr>
        <p:spPr>
          <a:xfrm>
            <a:off x="158750" y="890588"/>
            <a:ext cx="9555163" cy="4940300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marL="342900" indent="-342900" eaLnBrk="1" hangingPunct="1">
              <a:lnSpc>
                <a:spcPct val="60000"/>
              </a:lnSpc>
            </a:pPr>
            <a:endParaRPr lang="ru-RU" altLang="ko-KR" dirty="0">
              <a:latin typeface="Arial" panose="020B0604020202020204" pitchFamily="34" charset="0"/>
            </a:endParaRPr>
          </a:p>
          <a:p>
            <a:pPr marL="342900" indent="-342900" eaLnBrk="1" hangingPunct="1">
              <a:lnSpc>
                <a:spcPct val="110000"/>
              </a:lnSpc>
            </a:pPr>
            <a:r>
              <a:rPr lang="en-US" altLang="ko-KR" sz="2000" b="1" dirty="0">
                <a:solidFill>
                  <a:srgbClr val="FF66CC"/>
                </a:solidFill>
                <a:latin typeface="Arial" panose="020B0604020202020204" pitchFamily="34" charset="0"/>
                <a:ea typeface="굴림" charset="-127"/>
              </a:rPr>
              <a:t>A</a:t>
            </a:r>
            <a:r>
              <a:rPr lang="en-US" altLang="ko-KR" sz="2000" b="1" baseline="-25000" dirty="0">
                <a:solidFill>
                  <a:srgbClr val="FF66CC"/>
                </a:solidFill>
                <a:latin typeface="Arial" panose="020B0604020202020204" pitchFamily="34" charset="0"/>
                <a:ea typeface="굴림" charset="-127"/>
              </a:rPr>
              <a:t>21</a:t>
            </a:r>
            <a:r>
              <a:rPr lang="en-US" altLang="ko-KR" sz="2000" b="1" dirty="0">
                <a:solidFill>
                  <a:srgbClr val="FF66CC"/>
                </a:solidFill>
                <a:latin typeface="Arial" panose="020B0604020202020204" pitchFamily="34" charset="0"/>
                <a:ea typeface="굴림" charset="-127"/>
              </a:rPr>
              <a:t>~B</a:t>
            </a:r>
            <a:r>
              <a:rPr lang="en-US" altLang="ko-KR" sz="2000" b="1" baseline="-25000" dirty="0">
                <a:solidFill>
                  <a:srgbClr val="FF66CC"/>
                </a:solidFill>
                <a:latin typeface="Arial" panose="020B0604020202020204" pitchFamily="34" charset="0"/>
                <a:ea typeface="굴림" charset="-127"/>
              </a:rPr>
              <a:t>21</a:t>
            </a:r>
            <a:r>
              <a:rPr lang="en-US" altLang="ko-KR" b="1" dirty="0">
                <a:solidFill>
                  <a:srgbClr val="FF66CC"/>
                </a:solidFill>
                <a:latin typeface="Arial" panose="020B0604020202020204" pitchFamily="34" charset="0"/>
                <a:ea typeface="굴림" charset="-127"/>
              </a:rPr>
              <a:t>~B</a:t>
            </a:r>
            <a:r>
              <a:rPr lang="ru-RU" altLang="ko-KR" b="1" baseline="-25000" dirty="0">
                <a:solidFill>
                  <a:srgbClr val="FF66CC"/>
                </a:solidFill>
                <a:latin typeface="Arial" panose="020B0604020202020204" pitchFamily="34" charset="0"/>
              </a:rPr>
              <a:t>12</a:t>
            </a:r>
            <a:r>
              <a:rPr lang="ru-RU" altLang="ko-KR" sz="2000" b="1" baseline="-25000" dirty="0">
                <a:latin typeface="Arial" panose="020B0604020202020204" pitchFamily="34" charset="0"/>
              </a:rPr>
              <a:t> </a:t>
            </a:r>
            <a:r>
              <a:rPr lang="ru-RU" altLang="ko-KR" sz="2000" b="1" dirty="0">
                <a:latin typeface="Arial" panose="020B0604020202020204" pitchFamily="34" charset="0"/>
              </a:rPr>
              <a:t>, т.е. </a:t>
            </a:r>
          </a:p>
          <a:p>
            <a:pPr marL="342900" indent="-342900" eaLnBrk="1" hangingPunct="1">
              <a:lnSpc>
                <a:spcPct val="110000"/>
              </a:lnSpc>
            </a:pPr>
            <a:r>
              <a:rPr lang="ru-RU" altLang="ko-KR" sz="2000" b="1" dirty="0">
                <a:latin typeface="Arial" panose="020B0604020202020204" pitchFamily="34" charset="0"/>
              </a:rPr>
              <a:t>	если запрещены спонтанные переходы, запрещены и 	вынужденные.</a:t>
            </a:r>
          </a:p>
          <a:p>
            <a:pPr marL="342900" indent="-342900" eaLnBrk="1" hangingPunct="1">
              <a:lnSpc>
                <a:spcPct val="120000"/>
              </a:lnSpc>
            </a:pPr>
            <a:r>
              <a:rPr lang="ru-RU" altLang="ko-KR" sz="2000" b="1" dirty="0">
                <a:latin typeface="Arial" panose="020B0604020202020204" pitchFamily="34" charset="0"/>
              </a:rPr>
              <a:t>	достаточно знать только один коэффициент;</a:t>
            </a:r>
          </a:p>
          <a:p>
            <a:pPr marL="342900" indent="-342900" eaLnBrk="1" hangingPunct="1">
              <a:lnSpc>
                <a:spcPct val="120000"/>
              </a:lnSpc>
            </a:pPr>
            <a:r>
              <a:rPr lang="ru-RU" altLang="ko-KR" sz="2000" b="1" dirty="0">
                <a:latin typeface="Arial" panose="020B0604020202020204" pitchFamily="34" charset="0"/>
              </a:rPr>
              <a:t>	частотные зависимости (формы линии) одинаковы.</a:t>
            </a:r>
          </a:p>
          <a:p>
            <a:pPr marL="342900" indent="-342900" eaLnBrk="1" hangingPunct="1">
              <a:lnSpc>
                <a:spcPct val="80000"/>
              </a:lnSpc>
            </a:pPr>
            <a:endParaRPr lang="ru-RU" altLang="ko-KR" sz="2000" b="1" dirty="0">
              <a:latin typeface="Arial" panose="020B0604020202020204" pitchFamily="34" charset="0"/>
            </a:endParaRPr>
          </a:p>
          <a:p>
            <a:pPr marL="342900" indent="-342900" eaLnBrk="1" hangingPunct="1">
              <a:lnSpc>
                <a:spcPct val="120000"/>
              </a:lnSpc>
            </a:pPr>
            <a:r>
              <a:rPr lang="en-US" altLang="ko-KR" sz="2000" b="1" dirty="0">
                <a:solidFill>
                  <a:srgbClr val="FF66CC"/>
                </a:solidFill>
                <a:latin typeface="Arial" panose="020B0604020202020204" pitchFamily="34" charset="0"/>
                <a:ea typeface="굴림" charset="-127"/>
              </a:rPr>
              <a:t>A</a:t>
            </a:r>
            <a:r>
              <a:rPr lang="en-US" altLang="ko-KR" sz="2000" b="1" baseline="-25000" dirty="0">
                <a:solidFill>
                  <a:srgbClr val="FF66CC"/>
                </a:solidFill>
                <a:latin typeface="Arial" panose="020B0604020202020204" pitchFamily="34" charset="0"/>
                <a:ea typeface="굴림" charset="-127"/>
              </a:rPr>
              <a:t>21</a:t>
            </a:r>
            <a:r>
              <a:rPr lang="en-US" altLang="ko-KR" sz="2000" b="1" dirty="0">
                <a:solidFill>
                  <a:srgbClr val="FF66CC"/>
                </a:solidFill>
                <a:latin typeface="Arial" panose="020B0604020202020204" pitchFamily="34" charset="0"/>
                <a:ea typeface="굴림" charset="-127"/>
              </a:rPr>
              <a:t>~</a:t>
            </a:r>
            <a:r>
              <a:rPr lang="en-US" altLang="ko-KR" sz="2000" b="1" dirty="0">
                <a:solidFill>
                  <a:srgbClr val="FF66CC"/>
                </a:solidFill>
                <a:latin typeface="Symbol" panose="05050102010706020507" pitchFamily="18" charset="2"/>
                <a:ea typeface="굴림" charset="-127"/>
              </a:rPr>
              <a:t>n</a:t>
            </a:r>
            <a:r>
              <a:rPr lang="en-US" altLang="ko-KR" sz="2000" b="1" baseline="30000" dirty="0">
                <a:solidFill>
                  <a:srgbClr val="FF66CC"/>
                </a:solidFill>
                <a:latin typeface="Arial" panose="020B0604020202020204" pitchFamily="34" charset="0"/>
                <a:ea typeface="굴림" charset="-127"/>
              </a:rPr>
              <a:t>3</a:t>
            </a:r>
            <a:r>
              <a:rPr lang="ru-RU" altLang="ko-KR" sz="2000" b="1" dirty="0">
                <a:latin typeface="Arial" panose="020B0604020202020204" pitchFamily="34" charset="0"/>
              </a:rPr>
              <a:t>, т.е. роль спонтанного излучения растет при переходе от ИК к УФ (от радиочастот к оптике).</a:t>
            </a:r>
          </a:p>
          <a:p>
            <a:pPr marL="342900" indent="-342900" eaLnBrk="1" hangingPunct="1">
              <a:lnSpc>
                <a:spcPct val="70000"/>
              </a:lnSpc>
            </a:pPr>
            <a:endParaRPr lang="ru-RU" altLang="ko-KR" sz="2000" b="1" dirty="0">
              <a:latin typeface="Arial" panose="020B0604020202020204" pitchFamily="34" charset="0"/>
            </a:endParaRPr>
          </a:p>
          <a:p>
            <a:pPr marL="342900" indent="-342900" eaLnBrk="1" hangingPunct="1">
              <a:lnSpc>
                <a:spcPct val="120000"/>
              </a:lnSpc>
            </a:pPr>
            <a:r>
              <a:rPr lang="en-US" altLang="ko-KR" sz="2000" b="1" dirty="0">
                <a:solidFill>
                  <a:srgbClr val="FF66CC"/>
                </a:solidFill>
                <a:latin typeface="Arial" panose="020B0604020202020204" pitchFamily="34" charset="0"/>
                <a:ea typeface="굴림" charset="-127"/>
              </a:rPr>
              <a:t>W</a:t>
            </a:r>
            <a:r>
              <a:rPr lang="en-US" altLang="ko-KR" sz="2000" b="1" baseline="-25000" dirty="0">
                <a:solidFill>
                  <a:srgbClr val="FF66CC"/>
                </a:solidFill>
                <a:latin typeface="Arial" panose="020B0604020202020204" pitchFamily="34" charset="0"/>
                <a:ea typeface="굴림" charset="-127"/>
              </a:rPr>
              <a:t>21</a:t>
            </a:r>
            <a:r>
              <a:rPr lang="en-US" altLang="ko-KR" sz="2000" b="1" dirty="0">
                <a:solidFill>
                  <a:srgbClr val="FF66CC"/>
                </a:solidFill>
                <a:latin typeface="Arial" panose="020B0604020202020204" pitchFamily="34" charset="0"/>
                <a:ea typeface="굴림" charset="-127"/>
              </a:rPr>
              <a:t>~</a:t>
            </a:r>
            <a:r>
              <a:rPr lang="en-US" altLang="ko-KR" sz="2000" b="1" dirty="0">
                <a:solidFill>
                  <a:srgbClr val="FF66CC"/>
                </a:solidFill>
                <a:latin typeface="Symbol" panose="05050102010706020507" pitchFamily="18" charset="2"/>
                <a:ea typeface="굴림" charset="-127"/>
              </a:rPr>
              <a:t>r</a:t>
            </a:r>
            <a:r>
              <a:rPr lang="en-US" altLang="ko-KR" sz="2000" b="1" baseline="-25000" dirty="0">
                <a:solidFill>
                  <a:srgbClr val="FF66CC"/>
                </a:solidFill>
                <a:latin typeface="Symbol" panose="05050102010706020507" pitchFamily="18" charset="2"/>
                <a:ea typeface="굴림" charset="-127"/>
              </a:rPr>
              <a:t>n</a:t>
            </a:r>
            <a:r>
              <a:rPr lang="ru-RU" altLang="ko-KR" sz="2000" b="1" baseline="-25000" dirty="0">
                <a:solidFill>
                  <a:srgbClr val="FF66CC"/>
                </a:solidFill>
                <a:latin typeface="Symbol" panose="05050102010706020507" pitchFamily="18" charset="2"/>
              </a:rPr>
              <a:t> </a:t>
            </a:r>
            <a:r>
              <a:rPr lang="ru-RU" altLang="ko-KR" sz="2000" b="1" dirty="0">
                <a:latin typeface="Arial" panose="020B0604020202020204" pitchFamily="34" charset="0"/>
              </a:rPr>
              <a:t>,  т.е. при росте </a:t>
            </a:r>
            <a:r>
              <a:rPr lang="en-US" altLang="ko-KR" sz="2000" b="1" dirty="0">
                <a:latin typeface="Symbol" panose="05050102010706020507" pitchFamily="18" charset="2"/>
                <a:ea typeface="굴림" charset="-127"/>
              </a:rPr>
              <a:t>r</a:t>
            </a:r>
            <a:r>
              <a:rPr lang="en-US" altLang="ko-KR" sz="2000" b="1" baseline="-25000" dirty="0">
                <a:latin typeface="Symbol" panose="05050102010706020507" pitchFamily="18" charset="2"/>
                <a:ea typeface="굴림" charset="-127"/>
              </a:rPr>
              <a:t>n</a:t>
            </a:r>
            <a:r>
              <a:rPr lang="ru-RU" altLang="ko-KR" sz="2000" b="1" dirty="0">
                <a:latin typeface="Arial" panose="020B0604020202020204" pitchFamily="34" charset="0"/>
              </a:rPr>
              <a:t> можно пренебречь спонтанным излучением, которое некогерентно.</a:t>
            </a:r>
          </a:p>
          <a:p>
            <a:pPr marL="342900" indent="-342900" eaLnBrk="1" hangingPunct="1">
              <a:lnSpc>
                <a:spcPct val="70000"/>
              </a:lnSpc>
            </a:pPr>
            <a:endParaRPr lang="ru-RU" altLang="ko-KR" sz="2000" b="1" dirty="0">
              <a:latin typeface="Arial" panose="020B0604020202020204" pitchFamily="34" charset="0"/>
            </a:endParaRPr>
          </a:p>
          <a:p>
            <a:pPr marL="342900" indent="-342900" eaLnBrk="1" hangingPunct="1"/>
            <a:r>
              <a:rPr lang="ru-RU" altLang="ko-KR" sz="2000" b="1" dirty="0">
                <a:solidFill>
                  <a:srgbClr val="FF66CC"/>
                </a:solidFill>
                <a:latin typeface="Arial" panose="020B0604020202020204" pitchFamily="34" charset="0"/>
              </a:rPr>
              <a:t>Индуцированные кванты тождественны</a:t>
            </a:r>
            <a:r>
              <a:rPr lang="ru-RU" altLang="ko-KR" sz="2000" b="1" dirty="0">
                <a:latin typeface="Arial" panose="020B0604020202020204" pitchFamily="34" charset="0"/>
              </a:rPr>
              <a:t>, т.е. индуцированное излучение когерентно (частота, фаза, волновой вектор, поляризация).</a:t>
            </a:r>
          </a:p>
          <a:p>
            <a:pPr marL="342900" indent="-342900" eaLnBrk="1" hangingPunct="1">
              <a:lnSpc>
                <a:spcPct val="50000"/>
              </a:lnSpc>
            </a:pPr>
            <a:endParaRPr lang="ru-RU" altLang="ko-KR" sz="2000" b="1" dirty="0">
              <a:latin typeface="Arial" panose="020B0604020202020204" pitchFamily="34" charset="0"/>
            </a:endParaRPr>
          </a:p>
          <a:p>
            <a:pPr marL="342900" indent="-342900" eaLnBrk="1" hangingPunct="1">
              <a:lnSpc>
                <a:spcPct val="120000"/>
              </a:lnSpc>
            </a:pPr>
            <a:r>
              <a:rPr lang="ru-RU" altLang="ru-RU" sz="2000" b="1" dirty="0">
                <a:solidFill>
                  <a:srgbClr val="FF66CC"/>
                </a:solidFill>
                <a:latin typeface="Arial" panose="020B0604020202020204" pitchFamily="34" charset="0"/>
              </a:rPr>
              <a:t>В оптике </a:t>
            </a:r>
            <a:r>
              <a:rPr lang="en-US" altLang="ru-RU" sz="2000" b="1" dirty="0">
                <a:solidFill>
                  <a:srgbClr val="FF66CC"/>
                </a:solidFill>
                <a:latin typeface="Arial" panose="020B0604020202020204" pitchFamily="34" charset="0"/>
              </a:rPr>
              <a:t>h</a:t>
            </a:r>
            <a:r>
              <a:rPr lang="en-US" altLang="ru-RU" sz="2000" b="1" dirty="0">
                <a:solidFill>
                  <a:srgbClr val="FF66CC"/>
                </a:solidFill>
                <a:latin typeface="Symbol" panose="05050102010706020507" pitchFamily="18" charset="2"/>
              </a:rPr>
              <a:t>n</a:t>
            </a:r>
            <a:r>
              <a:rPr lang="en-US" altLang="ru-RU" sz="2000" b="1" dirty="0">
                <a:solidFill>
                  <a:srgbClr val="FF66CC"/>
                </a:solidFill>
                <a:latin typeface="Arial" panose="020B0604020202020204" pitchFamily="34" charset="0"/>
              </a:rPr>
              <a:t>&gt;&gt;kT</a:t>
            </a:r>
            <a:r>
              <a:rPr lang="ru-RU" altLang="ru-RU" sz="2000" b="1" dirty="0">
                <a:solidFill>
                  <a:srgbClr val="FF66CC"/>
                </a:solidFill>
                <a:latin typeface="Arial" panose="020B0604020202020204" pitchFamily="34" charset="0"/>
              </a:rPr>
              <a:t>,</a:t>
            </a:r>
            <a:r>
              <a:rPr lang="ru-RU" altLang="ru-RU" sz="2000" b="1" dirty="0">
                <a:latin typeface="Arial" panose="020B0604020202020204" pitchFamily="34" charset="0"/>
              </a:rPr>
              <a:t> т.е. при термодинамическом равновесии </a:t>
            </a:r>
            <a:r>
              <a:rPr lang="en-US" altLang="ru-RU" sz="2000" b="1" dirty="0">
                <a:latin typeface="Arial" panose="020B0604020202020204" pitchFamily="34" charset="0"/>
              </a:rPr>
              <a:t>n</a:t>
            </a:r>
            <a:r>
              <a:rPr lang="en-US" altLang="ru-RU" sz="2000" b="1" baseline="-25000" dirty="0">
                <a:latin typeface="Arial" panose="020B0604020202020204" pitchFamily="34" charset="0"/>
              </a:rPr>
              <a:t>2</a:t>
            </a:r>
            <a:r>
              <a:rPr lang="en-US" altLang="ru-RU" sz="2000" b="1" dirty="0">
                <a:latin typeface="Arial" panose="020B0604020202020204" pitchFamily="34" charset="0"/>
              </a:rPr>
              <a:t>&lt;&lt;n</a:t>
            </a:r>
            <a:r>
              <a:rPr lang="en-US" altLang="ru-RU" sz="2400" b="1" baseline="-25000" dirty="0">
                <a:latin typeface="Arial" panose="020B0604020202020204" pitchFamily="34" charset="0"/>
              </a:rPr>
              <a:t>1</a:t>
            </a:r>
            <a:r>
              <a:rPr lang="ru-RU" altLang="ru-RU" sz="2000" b="1" dirty="0">
                <a:latin typeface="Arial" panose="020B0604020202020204" pitchFamily="34" charset="0"/>
              </a:rPr>
              <a:t> </a:t>
            </a:r>
            <a:endParaRPr lang="en-US" altLang="ru-RU" sz="20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1053</Words>
  <Application>Microsoft Office PowerPoint</Application>
  <PresentationFormat>Лист A4 (210x297 мм)</PresentationFormat>
  <Paragraphs>127</Paragraphs>
  <Slides>12</Slides>
  <Notes>1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2</vt:i4>
      </vt:variant>
      <vt:variant>
        <vt:lpstr>Заголовки слайдов</vt:lpstr>
      </vt:variant>
      <vt:variant>
        <vt:i4>12</vt:i4>
      </vt:variant>
    </vt:vector>
  </HeadingPairs>
  <TitlesOfParts>
    <vt:vector size="21" baseType="lpstr">
      <vt:lpstr>굴림</vt:lpstr>
      <vt:lpstr>MS Mincho</vt:lpstr>
      <vt:lpstr>MS PGothic</vt:lpstr>
      <vt:lpstr>Arial</vt:lpstr>
      <vt:lpstr>Symbol</vt:lpstr>
      <vt:lpstr>Times New Roman</vt:lpstr>
      <vt:lpstr>Default Design</vt:lpstr>
      <vt:lpstr>Equation.3</vt:lpstr>
      <vt:lpstr>WPS Equation 3.0</vt:lpstr>
      <vt:lpstr>Презентация PowerPoint</vt:lpstr>
      <vt:lpstr>Презентация PowerPoint</vt:lpstr>
      <vt:lpstr>Вынужденные (индуцированные) переходы</vt:lpstr>
      <vt:lpstr>Вынужденные (индуцированные) переходы</vt:lpstr>
      <vt:lpstr>Презентация PowerPoint</vt:lpstr>
      <vt:lpstr>Соотношения между коэффициентами Эйнштейна</vt:lpstr>
      <vt:lpstr>Соотношения между коэффициентами Эйнштейна</vt:lpstr>
      <vt:lpstr>Соотношения между коэффициентами Эйнштейна (2)</vt:lpstr>
      <vt:lpstr>Вероятность излучения</vt:lpstr>
      <vt:lpstr>Соотношения между коэффициентами Эйнштейна (4)</vt:lpstr>
      <vt:lpstr>Вероятности переходов</vt:lpstr>
      <vt:lpstr>Коэффициенты Эйнштейна. Выводы.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Спонтанные и вынужденные переходы </dc:title>
  <dc:creator>Efim</dc:creator>
  <cp:lastModifiedBy>Sergey Mironov</cp:lastModifiedBy>
  <cp:revision>134</cp:revision>
  <dcterms:created xsi:type="dcterms:W3CDTF">2007-01-19T09:01:44Z</dcterms:created>
  <dcterms:modified xsi:type="dcterms:W3CDTF">2026-02-10T10:19:42Z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2FC49C8BD7D0496DB5C3481D460D8E35_12</vt:lpwstr>
  </property>
  <property fmtid="{D5CDD505-2E9C-101B-9397-08002B2CF9AE}" pid="3" name="KSOProductBuildVer">
    <vt:lpwstr>1049-12.2.0.23196</vt:lpwstr>
  </property>
</Properties>
</file>